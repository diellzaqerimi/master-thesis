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algn="l" rtl="0" eaLnBrk="0" fontAlgn="base" hangingPunct="0">
      <a:spcBef>
        <a:spcPct val="0"/>
      </a:spcBef>
      <a:spcAft>
        <a:spcPct val="0"/>
      </a:spcAft>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1pPr>
    <a:lvl2pPr indent="457200" algn="l" rtl="0" eaLnBrk="0" fontAlgn="base" hangingPunct="0">
      <a:spcBef>
        <a:spcPct val="0"/>
      </a:spcBef>
      <a:spcAft>
        <a:spcPct val="0"/>
      </a:spcAft>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2pPr>
    <a:lvl3pPr indent="914400" algn="l" rtl="0" eaLnBrk="0" fontAlgn="base" hangingPunct="0">
      <a:spcBef>
        <a:spcPct val="0"/>
      </a:spcBef>
      <a:spcAft>
        <a:spcPct val="0"/>
      </a:spcAft>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3pPr>
    <a:lvl4pPr indent="1371600" algn="l" rtl="0" eaLnBrk="0" fontAlgn="base" hangingPunct="0">
      <a:spcBef>
        <a:spcPct val="0"/>
      </a:spcBef>
      <a:spcAft>
        <a:spcPct val="0"/>
      </a:spcAft>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4pPr>
    <a:lvl5pPr indent="1828800" algn="l" rtl="0" eaLnBrk="0" fontAlgn="base" hangingPunct="0">
      <a:spcBef>
        <a:spcPct val="0"/>
      </a:spcBef>
      <a:spcAft>
        <a:spcPct val="0"/>
      </a:spcAft>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5pPr>
    <a:lvl6pPr marL="2286000" algn="l" defTabSz="914400" rtl="0" eaLnBrk="1" latinLnBrk="0" hangingPunct="1">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6pPr>
    <a:lvl7pPr marL="2743200" algn="l" defTabSz="914400" rtl="0" eaLnBrk="1" latinLnBrk="0" hangingPunct="1">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7pPr>
    <a:lvl8pPr marL="3200400" algn="l" defTabSz="914400" rtl="0" eaLnBrk="1" latinLnBrk="0" hangingPunct="1">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8pPr>
    <a:lvl9pPr marL="3657600" algn="l" defTabSz="914400" rtl="0" eaLnBrk="1" latinLnBrk="0" hangingPunct="1">
      <a:defRPr kern="1200">
        <a:solidFill>
          <a:srgbClr val="000000"/>
        </a:solidFill>
        <a:latin typeface="Calibri" panose="020F0502020204030204" pitchFamily="34" charset="0"/>
        <a:ea typeface="+mn-ea"/>
        <a:cs typeface="Calibri" panose="020F0502020204030204" pitchFamily="34" charset="0"/>
        <a:sym typeface="Calibri" panose="020F0502020204030204"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F485F5-5F01-18F2-F3B2-80EA06FEF69A}" v="29" dt="2025-08-31T16:52:26.857"/>
    <p1510:client id="{692A2B72-EDA8-E32C-8A7C-CAED4A134B4B}" v="45" dt="2025-08-29T22:19:14.15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Shape 126">
            <a:extLst>
              <a:ext uri="{FF2B5EF4-FFF2-40B4-BE49-F238E27FC236}">
                <a16:creationId xmlns:a16="http://schemas.microsoft.com/office/drawing/2014/main" id="{E189DA76-63CE-E3BA-7F68-256FF4B8ED81}"/>
              </a:ext>
            </a:extLst>
          </p:cNvPr>
          <p:cNvSpPr>
            <a:spLocks noGrp="1" noRot="1" noChangeAspect="1" noChangeArrowheads="1"/>
          </p:cNvSpPr>
          <p:nvPr>
            <p:ph type="sldImg"/>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3315" name="Shape 127">
            <a:extLst>
              <a:ext uri="{FF2B5EF4-FFF2-40B4-BE49-F238E27FC236}">
                <a16:creationId xmlns:a16="http://schemas.microsoft.com/office/drawing/2014/main" id="{307C1845-5EDF-4CB1-99EC-F65D50B66E02}"/>
              </a:ext>
            </a:extLst>
          </p:cNvPr>
          <p:cNvSpPr>
            <a:spLocks noGrp="1" noChangeArrowheads="1"/>
          </p:cNvSpPr>
          <p:nvPr>
            <p:ph type="body" sz="quarter" idx="1"/>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altLang="en-US">
              <a:sym typeface="Helvetica Neue"/>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a:solidFill>
          <a:schemeClr val="tx1"/>
        </a:solidFill>
        <a:latin typeface="+mj-lt"/>
        <a:ea typeface="+mj-ea"/>
        <a:cs typeface="+mj-cs"/>
        <a:sym typeface="Helvetica Neue"/>
      </a:defRPr>
    </a:lvl1pPr>
    <a:lvl2pPr marL="742950" indent="-285750" algn="l" rtl="0" eaLnBrk="0" fontAlgn="base" hangingPunct="0">
      <a:spcBef>
        <a:spcPct val="30000"/>
      </a:spcBef>
      <a:spcAft>
        <a:spcPct val="0"/>
      </a:spcAft>
      <a:defRPr>
        <a:solidFill>
          <a:schemeClr val="tx1"/>
        </a:solidFill>
        <a:latin typeface="+mj-lt"/>
        <a:ea typeface="+mj-ea"/>
        <a:cs typeface="+mj-cs"/>
        <a:sym typeface="Helvetica Neue"/>
      </a:defRPr>
    </a:lvl2pPr>
    <a:lvl3pPr marL="1143000" indent="-228600" algn="l" rtl="0" eaLnBrk="0" fontAlgn="base" hangingPunct="0">
      <a:spcBef>
        <a:spcPct val="30000"/>
      </a:spcBef>
      <a:spcAft>
        <a:spcPct val="0"/>
      </a:spcAft>
      <a:defRPr>
        <a:solidFill>
          <a:schemeClr val="tx1"/>
        </a:solidFill>
        <a:latin typeface="+mj-lt"/>
        <a:ea typeface="+mj-ea"/>
        <a:cs typeface="+mj-cs"/>
        <a:sym typeface="Helvetica Neue"/>
      </a:defRPr>
    </a:lvl3pPr>
    <a:lvl4pPr marL="1600200" indent="-228600" algn="l" rtl="0" eaLnBrk="0" fontAlgn="base" hangingPunct="0">
      <a:spcBef>
        <a:spcPct val="30000"/>
      </a:spcBef>
      <a:spcAft>
        <a:spcPct val="0"/>
      </a:spcAft>
      <a:defRPr>
        <a:solidFill>
          <a:schemeClr val="tx1"/>
        </a:solidFill>
        <a:latin typeface="+mj-lt"/>
        <a:ea typeface="+mj-ea"/>
        <a:cs typeface="+mj-cs"/>
        <a:sym typeface="Helvetica Neue"/>
      </a:defRPr>
    </a:lvl4pPr>
    <a:lvl5pPr marL="2057400" indent="-228600" algn="l" rtl="0" eaLnBrk="0" fontAlgn="base" hangingPunct="0">
      <a:spcBef>
        <a:spcPct val="30000"/>
      </a:spcBef>
      <a:spcAft>
        <a:spcPct val="0"/>
      </a:spcAft>
      <a:defRPr>
        <a:solidFill>
          <a:schemeClr val="tx1"/>
        </a:solidFill>
        <a:latin typeface="+mj-lt"/>
        <a:ea typeface="+mj-ea"/>
        <a:cs typeface="+mj-cs"/>
        <a:sym typeface="Helvetica Neue"/>
      </a:defRPr>
    </a:lvl5pPr>
    <a:lvl6pPr indent="1143000" latinLnBrk="0">
      <a:defRPr>
        <a:latin typeface="+mj-lt"/>
        <a:ea typeface="+mj-ea"/>
        <a:cs typeface="+mj-cs"/>
        <a:sym typeface="Helvetica Neue"/>
      </a:defRPr>
    </a:lvl6pPr>
    <a:lvl7pPr indent="1371600" latinLnBrk="0">
      <a:defRPr>
        <a:latin typeface="+mj-lt"/>
        <a:ea typeface="+mj-ea"/>
        <a:cs typeface="+mj-cs"/>
        <a:sym typeface="Helvetica Neue"/>
      </a:defRPr>
    </a:lvl7pPr>
    <a:lvl8pPr indent="1600200" latinLnBrk="0">
      <a:defRPr>
        <a:latin typeface="+mj-lt"/>
        <a:ea typeface="+mj-ea"/>
        <a:cs typeface="+mj-cs"/>
        <a:sym typeface="Helvetica Neue"/>
      </a:defRPr>
    </a:lvl8pPr>
    <a:lvl9pPr indent="1828800" latinLnBrk="0">
      <a:defRPr>
        <a:latin typeface="+mj-lt"/>
        <a:ea typeface="+mj-ea"/>
        <a:cs typeface="+mj-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2" name="Title Text"/>
          <p:cNvSpPr txBox="1">
            <a:spLocks noGrp="1"/>
          </p:cNvSpPr>
          <p:nvPr>
            <p:ph type="title"/>
          </p:nvPr>
        </p:nvSpPr>
        <p:spPr>
          <a:prstGeom prst="rect">
            <a:avLst/>
          </a:prstGeom>
        </p:spPr>
        <p:txBody>
          <a:bodyPr/>
          <a:lstStyle/>
          <a:p>
            <a:r>
              <a:t>Title Text</a:t>
            </a:r>
          </a:p>
        </p:txBody>
      </p:sp>
      <p:sp>
        <p:nvSpPr>
          <p:cNvPr id="1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61776401-C820-B9FC-A8B3-00765E9BE156}"/>
              </a:ext>
            </a:extLst>
          </p:cNvPr>
          <p:cNvSpPr txBox="1">
            <a:spLocks noGrp="1" noChangeArrowheads="1"/>
          </p:cNvSpPr>
          <p:nvPr>
            <p:ph type="sldNum" sz="quarter" idx="10"/>
          </p:nvPr>
        </p:nvSpPr>
        <p:spPr>
          <a:ln/>
        </p:spPr>
        <p:txBody>
          <a:bodyPr/>
          <a:lstStyle>
            <a:lvl1pPr>
              <a:defRPr/>
            </a:lvl1pPr>
          </a:lstStyle>
          <a:p>
            <a:fld id="{4EE72D7C-516A-44A8-92B6-C31582A64E03}" type="slidenum">
              <a:rPr lang="en-US" altLang="en-US"/>
              <a:pPr/>
              <a:t>‹#›</a:t>
            </a:fld>
            <a:endParaRPr lang="en-US" altLang="en-US"/>
          </a:p>
        </p:txBody>
      </p:sp>
    </p:spTree>
    <p:extLst>
      <p:ext uri="{BB962C8B-B14F-4D97-AF65-F5344CB8AC3E}">
        <p14:creationId xmlns:p14="http://schemas.microsoft.com/office/powerpoint/2010/main" val="276257901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5E3BB10F-4991-AD04-8C34-B5400371A15E}"/>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3" name="Slide Number">
            <a:extLst>
              <a:ext uri="{FF2B5EF4-FFF2-40B4-BE49-F238E27FC236}">
                <a16:creationId xmlns:a16="http://schemas.microsoft.com/office/drawing/2014/main" id="{9BBCD585-B96C-6638-59F5-619C0AB41B79}"/>
              </a:ext>
            </a:extLst>
          </p:cNvPr>
          <p:cNvSpPr txBox="1">
            <a:spLocks noGrp="1" noChangeArrowheads="1"/>
          </p:cNvSpPr>
          <p:nvPr>
            <p:ph type="sldNum" sz="quarter" idx="10"/>
          </p:nvPr>
        </p:nvSpPr>
        <p:spPr/>
        <p:txBody>
          <a:bodyPr/>
          <a:lstStyle>
            <a:lvl1pPr>
              <a:defRPr/>
            </a:lvl1pPr>
          </a:lstStyle>
          <a:p>
            <a:fld id="{8C571334-53B7-45EA-847C-9486722C6076}" type="slidenum">
              <a:rPr lang="en-US" altLang="en-US"/>
              <a:pPr/>
              <a:t>‹#›</a:t>
            </a:fld>
            <a:endParaRPr lang="en-US" altLang="en-US"/>
          </a:p>
        </p:txBody>
      </p:sp>
    </p:spTree>
    <p:extLst>
      <p:ext uri="{BB962C8B-B14F-4D97-AF65-F5344CB8AC3E}">
        <p14:creationId xmlns:p14="http://schemas.microsoft.com/office/powerpoint/2010/main" val="281361753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5044B190-7111-C194-5CA7-935B9B6FB8BB}"/>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3" name="Slide Number">
            <a:extLst>
              <a:ext uri="{FF2B5EF4-FFF2-40B4-BE49-F238E27FC236}">
                <a16:creationId xmlns:a16="http://schemas.microsoft.com/office/drawing/2014/main" id="{A68F7152-8AC6-F9FE-C78A-970BDCC61889}"/>
              </a:ext>
            </a:extLst>
          </p:cNvPr>
          <p:cNvSpPr txBox="1">
            <a:spLocks noGrp="1" noChangeArrowheads="1"/>
          </p:cNvSpPr>
          <p:nvPr>
            <p:ph type="sldNum" sz="quarter" idx="10"/>
          </p:nvPr>
        </p:nvSpPr>
        <p:spPr/>
        <p:txBody>
          <a:bodyPr/>
          <a:lstStyle>
            <a:lvl1pPr>
              <a:defRPr/>
            </a:lvl1pPr>
          </a:lstStyle>
          <a:p>
            <a:fld id="{77DA94B5-07D9-4943-BDF1-A77CF7864F35}" type="slidenum">
              <a:rPr lang="en-US" altLang="en-US"/>
              <a:pPr/>
              <a:t>‹#›</a:t>
            </a:fld>
            <a:endParaRPr lang="en-US" altLang="en-US"/>
          </a:p>
        </p:txBody>
      </p:sp>
    </p:spTree>
    <p:extLst>
      <p:ext uri="{BB962C8B-B14F-4D97-AF65-F5344CB8AC3E}">
        <p14:creationId xmlns:p14="http://schemas.microsoft.com/office/powerpoint/2010/main" val="1096286840"/>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85CD8D7C-273F-FC89-ACD7-F404CBEF8683}"/>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DF937A42-177A-D71A-9BD2-6823CE7D4FAC}"/>
              </a:ext>
            </a:extLst>
          </p:cNvPr>
          <p:cNvSpPr txBox="1">
            <a:spLocks noGrp="1" noChangeArrowheads="1"/>
          </p:cNvSpPr>
          <p:nvPr>
            <p:ph type="sldNum" sz="quarter" idx="10"/>
          </p:nvPr>
        </p:nvSpPr>
        <p:spPr/>
        <p:txBody>
          <a:bodyPr/>
          <a:lstStyle>
            <a:lvl1pPr>
              <a:defRPr/>
            </a:lvl1pPr>
          </a:lstStyle>
          <a:p>
            <a:fld id="{6534E8BC-1FCD-40EB-B8FD-E8748B10AEF4}" type="slidenum">
              <a:rPr lang="en-US" altLang="en-US"/>
              <a:pPr/>
              <a:t>‹#›</a:t>
            </a:fld>
            <a:endParaRPr lang="en-US" altLang="en-US"/>
          </a:p>
        </p:txBody>
      </p:sp>
    </p:spTree>
    <p:extLst>
      <p:ext uri="{BB962C8B-B14F-4D97-AF65-F5344CB8AC3E}">
        <p14:creationId xmlns:p14="http://schemas.microsoft.com/office/powerpoint/2010/main" val="3245575729"/>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94203040-49CB-F8A6-2253-1E5AE4520A18}"/>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48" name="Title Text"/>
          <p:cNvSpPr txBox="1">
            <a:spLocks noGrp="1"/>
          </p:cNvSpPr>
          <p:nvPr>
            <p:ph type="title"/>
          </p:nvPr>
        </p:nvSpPr>
        <p:spPr>
          <a:prstGeom prst="rect">
            <a:avLst/>
          </a:prstGeom>
        </p:spPr>
        <p:txBody>
          <a:bodyPr/>
          <a:lstStyle/>
          <a:p>
            <a:r>
              <a:t>Title Text</a:t>
            </a:r>
          </a:p>
        </p:txBody>
      </p:sp>
      <p:sp>
        <p:nvSpPr>
          <p:cNvPr id="4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6A0FED76-7340-0E2B-BB23-FC5B63045DB9}"/>
              </a:ext>
            </a:extLst>
          </p:cNvPr>
          <p:cNvSpPr txBox="1">
            <a:spLocks noGrp="1" noChangeArrowheads="1"/>
          </p:cNvSpPr>
          <p:nvPr>
            <p:ph type="sldNum" sz="quarter" idx="10"/>
          </p:nvPr>
        </p:nvSpPr>
        <p:spPr/>
        <p:txBody>
          <a:bodyPr/>
          <a:lstStyle>
            <a:lvl1pPr>
              <a:defRPr/>
            </a:lvl1pPr>
          </a:lstStyle>
          <a:p>
            <a:fld id="{9A50C9DF-30E8-40E1-9828-07231C1ECD70}" type="slidenum">
              <a:rPr lang="en-US" altLang="en-US"/>
              <a:pPr/>
              <a:t>‹#›</a:t>
            </a:fld>
            <a:endParaRPr lang="en-US" altLang="en-US"/>
          </a:p>
        </p:txBody>
      </p:sp>
    </p:spTree>
    <p:extLst>
      <p:ext uri="{BB962C8B-B14F-4D97-AF65-F5344CB8AC3E}">
        <p14:creationId xmlns:p14="http://schemas.microsoft.com/office/powerpoint/2010/main" val="339921552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39414DC2-BD05-97C3-C311-8BDD1D745F60}"/>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58" name="Title Text"/>
          <p:cNvSpPr txBox="1">
            <a:spLocks noGrp="1"/>
          </p:cNvSpPr>
          <p:nvPr>
            <p:ph type="title"/>
          </p:nvPr>
        </p:nvSpPr>
        <p:spPr>
          <a:prstGeom prst="rect">
            <a:avLst/>
          </a:prstGeom>
        </p:spPr>
        <p:txBody>
          <a:bodyPr/>
          <a:lstStyle/>
          <a:p>
            <a:r>
              <a:t>Title Text</a:t>
            </a:r>
          </a:p>
        </p:txBody>
      </p:sp>
      <p:sp>
        <p:nvSpPr>
          <p:cNvPr id="5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2D6FBB12-61A5-5AC4-EAE3-F3AE58E23AB4}"/>
              </a:ext>
            </a:extLst>
          </p:cNvPr>
          <p:cNvSpPr txBox="1">
            <a:spLocks noGrp="1" noChangeArrowheads="1"/>
          </p:cNvSpPr>
          <p:nvPr>
            <p:ph type="sldNum" sz="quarter" idx="10"/>
          </p:nvPr>
        </p:nvSpPr>
        <p:spPr/>
        <p:txBody>
          <a:bodyPr/>
          <a:lstStyle>
            <a:lvl1pPr>
              <a:defRPr/>
            </a:lvl1pPr>
          </a:lstStyle>
          <a:p>
            <a:fld id="{9C386C4E-C63B-4B31-A79D-89A477918B49}" type="slidenum">
              <a:rPr lang="en-US" altLang="en-US"/>
              <a:pPr/>
              <a:t>‹#›</a:t>
            </a:fld>
            <a:endParaRPr lang="en-US" altLang="en-US"/>
          </a:p>
        </p:txBody>
      </p:sp>
    </p:spTree>
    <p:extLst>
      <p:ext uri="{BB962C8B-B14F-4D97-AF65-F5344CB8AC3E}">
        <p14:creationId xmlns:p14="http://schemas.microsoft.com/office/powerpoint/2010/main" val="102560272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B4B05A9A-978C-BC1C-97E5-E718007F66A1}"/>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68" name="Title Text"/>
          <p:cNvSpPr txBox="1">
            <a:spLocks noGrp="1"/>
          </p:cNvSpPr>
          <p:nvPr>
            <p:ph type="title"/>
          </p:nvPr>
        </p:nvSpPr>
        <p:spPr>
          <a:prstGeom prst="rect">
            <a:avLst/>
          </a:prstGeom>
        </p:spPr>
        <p:txBody>
          <a:bodyPr/>
          <a:lstStyle/>
          <a:p>
            <a:r>
              <a:t>Title Text</a:t>
            </a:r>
          </a:p>
        </p:txBody>
      </p:sp>
      <p:sp>
        <p:nvSpPr>
          <p:cNvPr id="6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A204BE8D-838D-FB13-A9F9-9C859D254576}"/>
              </a:ext>
            </a:extLst>
          </p:cNvPr>
          <p:cNvSpPr txBox="1">
            <a:spLocks noGrp="1" noChangeArrowheads="1"/>
          </p:cNvSpPr>
          <p:nvPr>
            <p:ph type="sldNum" sz="quarter" idx="10"/>
          </p:nvPr>
        </p:nvSpPr>
        <p:spPr/>
        <p:txBody>
          <a:bodyPr/>
          <a:lstStyle>
            <a:lvl1pPr>
              <a:defRPr/>
            </a:lvl1pPr>
          </a:lstStyle>
          <a:p>
            <a:fld id="{D5F7D687-E2B7-4F66-8FB5-CA10AE4108EA}" type="slidenum">
              <a:rPr lang="en-US" altLang="en-US"/>
              <a:pPr/>
              <a:t>‹#›</a:t>
            </a:fld>
            <a:endParaRPr lang="en-US" altLang="en-US"/>
          </a:p>
        </p:txBody>
      </p:sp>
    </p:spTree>
    <p:extLst>
      <p:ext uri="{BB962C8B-B14F-4D97-AF65-F5344CB8AC3E}">
        <p14:creationId xmlns:p14="http://schemas.microsoft.com/office/powerpoint/2010/main" val="267797700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3E495546-F84D-3146-6DF8-F73E7EE29167}"/>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78" name="Title Text"/>
          <p:cNvSpPr txBox="1">
            <a:spLocks noGrp="1"/>
          </p:cNvSpPr>
          <p:nvPr>
            <p:ph type="title"/>
          </p:nvPr>
        </p:nvSpPr>
        <p:spPr>
          <a:prstGeom prst="rect">
            <a:avLst/>
          </a:prstGeom>
        </p:spPr>
        <p:txBody>
          <a:bodyPr/>
          <a:lstStyle/>
          <a:p>
            <a:r>
              <a:t>Title Text</a:t>
            </a:r>
          </a:p>
        </p:txBody>
      </p:sp>
      <p:sp>
        <p:nvSpPr>
          <p:cNvPr id="7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7D58A63D-3494-25BC-5198-36C14A23A3AE}"/>
              </a:ext>
            </a:extLst>
          </p:cNvPr>
          <p:cNvSpPr txBox="1">
            <a:spLocks noGrp="1" noChangeArrowheads="1"/>
          </p:cNvSpPr>
          <p:nvPr>
            <p:ph type="sldNum" sz="quarter" idx="10"/>
          </p:nvPr>
        </p:nvSpPr>
        <p:spPr/>
        <p:txBody>
          <a:bodyPr/>
          <a:lstStyle>
            <a:lvl1pPr>
              <a:defRPr/>
            </a:lvl1pPr>
          </a:lstStyle>
          <a:p>
            <a:fld id="{99EE5D8E-D618-407B-9649-1DBB9570EA2A}" type="slidenum">
              <a:rPr lang="en-US" altLang="en-US"/>
              <a:pPr/>
              <a:t>‹#›</a:t>
            </a:fld>
            <a:endParaRPr lang="en-US" altLang="en-US"/>
          </a:p>
        </p:txBody>
      </p:sp>
    </p:spTree>
    <p:extLst>
      <p:ext uri="{BB962C8B-B14F-4D97-AF65-F5344CB8AC3E}">
        <p14:creationId xmlns:p14="http://schemas.microsoft.com/office/powerpoint/2010/main" val="423181292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0C76C125-6E1B-4F8D-0629-B3B84586BC11}"/>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88" name="Title Text"/>
          <p:cNvSpPr txBox="1">
            <a:spLocks noGrp="1"/>
          </p:cNvSpPr>
          <p:nvPr>
            <p:ph type="title"/>
          </p:nvPr>
        </p:nvSpPr>
        <p:spPr>
          <a:prstGeom prst="rect">
            <a:avLst/>
          </a:prstGeom>
        </p:spPr>
        <p:txBody>
          <a:bodyPr/>
          <a:lstStyle/>
          <a:p>
            <a:r>
              <a:t>Title Text</a:t>
            </a:r>
          </a:p>
        </p:txBody>
      </p:sp>
      <p:sp>
        <p:nvSpPr>
          <p:cNvPr id="8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30F8AADB-F9FC-9785-E9D0-68BA7EC0F476}"/>
              </a:ext>
            </a:extLst>
          </p:cNvPr>
          <p:cNvSpPr txBox="1">
            <a:spLocks noGrp="1" noChangeArrowheads="1"/>
          </p:cNvSpPr>
          <p:nvPr>
            <p:ph type="sldNum" sz="quarter" idx="10"/>
          </p:nvPr>
        </p:nvSpPr>
        <p:spPr/>
        <p:txBody>
          <a:bodyPr/>
          <a:lstStyle>
            <a:lvl1pPr>
              <a:defRPr/>
            </a:lvl1pPr>
          </a:lstStyle>
          <a:p>
            <a:fld id="{D436657C-DC96-42B6-9A7D-094CB8B8AA9C}" type="slidenum">
              <a:rPr lang="en-US" altLang="en-US"/>
              <a:pPr/>
              <a:t>‹#›</a:t>
            </a:fld>
            <a:endParaRPr lang="en-US" altLang="en-US"/>
          </a:p>
        </p:txBody>
      </p:sp>
    </p:spTree>
    <p:extLst>
      <p:ext uri="{BB962C8B-B14F-4D97-AF65-F5344CB8AC3E}">
        <p14:creationId xmlns:p14="http://schemas.microsoft.com/office/powerpoint/2010/main" val="339253768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D8C2566D-BBE9-F943-AD8A-7104E115DE28}"/>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98" name="Title Text"/>
          <p:cNvSpPr txBox="1">
            <a:spLocks noGrp="1"/>
          </p:cNvSpPr>
          <p:nvPr>
            <p:ph type="title"/>
          </p:nvPr>
        </p:nvSpPr>
        <p:spPr>
          <a:prstGeom prst="rect">
            <a:avLst/>
          </a:prstGeom>
        </p:spPr>
        <p:txBody>
          <a:bodyPr/>
          <a:lstStyle/>
          <a:p>
            <a:r>
              <a:t>Title Text</a:t>
            </a:r>
          </a:p>
        </p:txBody>
      </p:sp>
      <p:sp>
        <p:nvSpPr>
          <p:cNvPr id="9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1B342795-0F54-C0A1-2F72-396B240F42C9}"/>
              </a:ext>
            </a:extLst>
          </p:cNvPr>
          <p:cNvSpPr txBox="1">
            <a:spLocks noGrp="1" noChangeArrowheads="1"/>
          </p:cNvSpPr>
          <p:nvPr>
            <p:ph type="sldNum" sz="quarter" idx="10"/>
          </p:nvPr>
        </p:nvSpPr>
        <p:spPr/>
        <p:txBody>
          <a:bodyPr/>
          <a:lstStyle>
            <a:lvl1pPr>
              <a:defRPr/>
            </a:lvl1pPr>
          </a:lstStyle>
          <a:p>
            <a:fld id="{92C6D752-80B3-4D02-8452-AA50F89074D7}" type="slidenum">
              <a:rPr lang="en-US" altLang="en-US"/>
              <a:pPr/>
              <a:t>‹#›</a:t>
            </a:fld>
            <a:endParaRPr lang="en-US" altLang="en-US"/>
          </a:p>
        </p:txBody>
      </p:sp>
    </p:spTree>
    <p:extLst>
      <p:ext uri="{BB962C8B-B14F-4D97-AF65-F5344CB8AC3E}">
        <p14:creationId xmlns:p14="http://schemas.microsoft.com/office/powerpoint/2010/main" val="94464217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715BDD97-3CE4-C433-E57D-74418C542D9D}"/>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108" name="Title Text"/>
          <p:cNvSpPr txBox="1">
            <a:spLocks noGrp="1"/>
          </p:cNvSpPr>
          <p:nvPr>
            <p:ph type="title"/>
          </p:nvPr>
        </p:nvSpPr>
        <p:spPr>
          <a:prstGeom prst="rect">
            <a:avLst/>
          </a:prstGeom>
        </p:spPr>
        <p:txBody>
          <a:bodyPr/>
          <a:lstStyle/>
          <a:p>
            <a:r>
              <a:t>Title Text</a:t>
            </a:r>
          </a:p>
        </p:txBody>
      </p:sp>
      <p:sp>
        <p:nvSpPr>
          <p:cNvPr id="10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45D3CEF8-52D3-378D-758E-E033957E7BC4}"/>
              </a:ext>
            </a:extLst>
          </p:cNvPr>
          <p:cNvSpPr txBox="1">
            <a:spLocks noGrp="1" noChangeArrowheads="1"/>
          </p:cNvSpPr>
          <p:nvPr>
            <p:ph type="sldNum" sz="quarter" idx="10"/>
          </p:nvPr>
        </p:nvSpPr>
        <p:spPr/>
        <p:txBody>
          <a:bodyPr/>
          <a:lstStyle>
            <a:lvl1pPr>
              <a:defRPr/>
            </a:lvl1pPr>
          </a:lstStyle>
          <a:p>
            <a:fld id="{24B851DD-A3C8-4531-94DD-35DFF3B4B27E}" type="slidenum">
              <a:rPr lang="en-US" altLang="en-US"/>
              <a:pPr/>
              <a:t>‹#›</a:t>
            </a:fld>
            <a:endParaRPr lang="en-US" altLang="en-US"/>
          </a:p>
        </p:txBody>
      </p:sp>
    </p:spTree>
    <p:extLst>
      <p:ext uri="{BB962C8B-B14F-4D97-AF65-F5344CB8AC3E}">
        <p14:creationId xmlns:p14="http://schemas.microsoft.com/office/powerpoint/2010/main" val="89200231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www.seeu.edu.mk">
            <a:extLst>
              <a:ext uri="{FF2B5EF4-FFF2-40B4-BE49-F238E27FC236}">
                <a16:creationId xmlns:a16="http://schemas.microsoft.com/office/drawing/2014/main" id="{799B0502-1FCB-42EE-380A-C84F3635F166}"/>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118" name="Title Text"/>
          <p:cNvSpPr txBox="1">
            <a:spLocks noGrp="1"/>
          </p:cNvSpPr>
          <p:nvPr>
            <p:ph type="title"/>
          </p:nvPr>
        </p:nvSpPr>
        <p:spPr>
          <a:prstGeom prst="rect">
            <a:avLst/>
          </a:prstGeom>
        </p:spPr>
        <p:txBody>
          <a:bodyPr/>
          <a:lstStyle/>
          <a:p>
            <a:r>
              <a:t>Title Text</a:t>
            </a:r>
          </a:p>
        </p:txBody>
      </p:sp>
      <p:sp>
        <p:nvSpPr>
          <p:cNvPr id="11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D4EF4714-709E-ACCD-39F4-C8555E29C5A5}"/>
              </a:ext>
            </a:extLst>
          </p:cNvPr>
          <p:cNvSpPr txBox="1">
            <a:spLocks noGrp="1" noChangeArrowheads="1"/>
          </p:cNvSpPr>
          <p:nvPr>
            <p:ph type="sldNum" sz="quarter" idx="10"/>
          </p:nvPr>
        </p:nvSpPr>
        <p:spPr/>
        <p:txBody>
          <a:bodyPr/>
          <a:lstStyle>
            <a:lvl1pPr>
              <a:defRPr/>
            </a:lvl1pPr>
          </a:lstStyle>
          <a:p>
            <a:fld id="{8FD95127-CD59-43D5-982E-BB732C9477D5}" type="slidenum">
              <a:rPr lang="en-US" altLang="en-US"/>
              <a:pPr/>
              <a:t>‹#›</a:t>
            </a:fld>
            <a:endParaRPr lang="en-US" altLang="en-US"/>
          </a:p>
        </p:txBody>
      </p:sp>
    </p:spTree>
    <p:extLst>
      <p:ext uri="{BB962C8B-B14F-4D97-AF65-F5344CB8AC3E}">
        <p14:creationId xmlns:p14="http://schemas.microsoft.com/office/powerpoint/2010/main" val="150414889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www.seeu.edu.mk">
            <a:extLst>
              <a:ext uri="{FF2B5EF4-FFF2-40B4-BE49-F238E27FC236}">
                <a16:creationId xmlns:a16="http://schemas.microsoft.com/office/drawing/2014/main" id="{D0238931-C429-2F74-BABB-7F00AEEF353D}"/>
              </a:ext>
            </a:extLst>
          </p:cNvPr>
          <p:cNvSpPr txBox="1">
            <a:spLocks noChangeArrowheads="1"/>
          </p:cNvSpPr>
          <p:nvPr/>
        </p:nvSpPr>
        <p:spPr bwMode="auto">
          <a:xfrm>
            <a:off x="7451725" y="6548438"/>
            <a:ext cx="1657350" cy="282575"/>
          </a:xfrm>
          <a:prstGeom prst="rect">
            <a:avLst/>
          </a:prstGeom>
          <a:solidFill>
            <a:srgbClr val="00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p>
            <a:pPr eaLnBrk="1"/>
            <a:r>
              <a:rPr lang="en-US" altLang="en-US" sz="1300">
                <a:solidFill>
                  <a:srgbClr val="FFFFFF"/>
                </a:solidFill>
                <a:latin typeface="Cambria" panose="02040503050406030204" pitchFamily="18" charset="0"/>
                <a:sym typeface="Cambria" panose="02040503050406030204" pitchFamily="18" charset="0"/>
              </a:rPr>
              <a:t>www.seeu.edu.mk</a:t>
            </a:r>
          </a:p>
        </p:txBody>
      </p:sp>
      <p:sp>
        <p:nvSpPr>
          <p:cNvPr id="1027" name="Title Text">
            <a:extLst>
              <a:ext uri="{FF2B5EF4-FFF2-40B4-BE49-F238E27FC236}">
                <a16:creationId xmlns:a16="http://schemas.microsoft.com/office/drawing/2014/main" id="{4F03A556-2A35-59CD-57F1-C1803D3EB0CE}"/>
              </a:ext>
            </a:extLst>
          </p:cNvPr>
          <p:cNvSpPr txBox="1">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ctr" anchorCtr="0" compatLnSpc="1">
            <a:prstTxWarp prst="textNoShape">
              <a:avLst/>
            </a:prstTxWarp>
          </a:bodyPr>
          <a:lstStyle/>
          <a:p>
            <a:pPr lvl="0"/>
            <a:r>
              <a:rPr lang="en-US" altLang="en-US">
                <a:sym typeface="Calibri Light" panose="020F0302020204030204" pitchFamily="34" charset="0"/>
              </a:rPr>
              <a:t>Title Text</a:t>
            </a:r>
          </a:p>
        </p:txBody>
      </p:sp>
      <p:sp>
        <p:nvSpPr>
          <p:cNvPr id="1028" name="Body Level One…">
            <a:extLst>
              <a:ext uri="{FF2B5EF4-FFF2-40B4-BE49-F238E27FC236}">
                <a16:creationId xmlns:a16="http://schemas.microsoft.com/office/drawing/2014/main" id="{35CBD292-9E42-0584-AC2B-3E5C2B2DFE4D}"/>
              </a:ext>
            </a:extLst>
          </p:cNvPr>
          <p:cNvSpPr txBox="1">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t" anchorCtr="0" compatLnSpc="1">
            <a:prstTxWarp prst="textNoShape">
              <a:avLst/>
            </a:prstTxWarp>
          </a:bodyPr>
          <a:lstStyle/>
          <a:p>
            <a:pPr lvl="0"/>
            <a:r>
              <a:rPr lang="en-US" altLang="en-US">
                <a:sym typeface="Calibri" panose="020F0502020204030204" pitchFamily="34" charset="0"/>
              </a:rPr>
              <a:t>Body Level One</a:t>
            </a:r>
          </a:p>
          <a:p>
            <a:pPr lvl="1"/>
            <a:r>
              <a:rPr lang="en-US" altLang="en-US">
                <a:sym typeface="Calibri" panose="020F0502020204030204" pitchFamily="34" charset="0"/>
              </a:rPr>
              <a:t>Body Level Two</a:t>
            </a:r>
          </a:p>
          <a:p>
            <a:pPr lvl="2"/>
            <a:r>
              <a:rPr lang="en-US" altLang="en-US">
                <a:sym typeface="Calibri" panose="020F0502020204030204" pitchFamily="34" charset="0"/>
              </a:rPr>
              <a:t>Body Level Three</a:t>
            </a:r>
          </a:p>
          <a:p>
            <a:pPr lvl="3"/>
            <a:r>
              <a:rPr lang="en-US" altLang="en-US">
                <a:sym typeface="Calibri" panose="020F0502020204030204" pitchFamily="34" charset="0"/>
              </a:rPr>
              <a:t>Body Level Four</a:t>
            </a:r>
          </a:p>
          <a:p>
            <a:pPr lvl="4"/>
            <a:r>
              <a:rPr lang="en-US" altLang="en-US">
                <a:sym typeface="Calibri" panose="020F0502020204030204" pitchFamily="34" charset="0"/>
              </a:rPr>
              <a:t>Body Level Five</a:t>
            </a:r>
          </a:p>
        </p:txBody>
      </p:sp>
      <p:sp>
        <p:nvSpPr>
          <p:cNvPr id="1029" name="Slide Number">
            <a:extLst>
              <a:ext uri="{FF2B5EF4-FFF2-40B4-BE49-F238E27FC236}">
                <a16:creationId xmlns:a16="http://schemas.microsoft.com/office/drawing/2014/main" id="{6B4F2E3B-7629-5008-6A22-AF9DFFE3E347}"/>
              </a:ext>
            </a:extLst>
          </p:cNvPr>
          <p:cNvSpPr txBox="1">
            <a:spLocks noGrp="1" noChangeArrowheads="1"/>
          </p:cNvSpPr>
          <p:nvPr>
            <p:ph type="sldNum" sz="quarter" idx="2"/>
          </p:nvPr>
        </p:nvSpPr>
        <p:spPr bwMode="auto">
          <a:xfrm>
            <a:off x="8402638" y="6245225"/>
            <a:ext cx="28416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none" lIns="45719" tIns="45720" rIns="45719" bIns="45720" numCol="1" anchor="t" anchorCtr="0" compatLnSpc="1">
            <a:prstTxWarp prst="textNoShape">
              <a:avLst/>
            </a:prstTxWarp>
            <a:spAutoFit/>
          </a:bodyPr>
          <a:lstStyle>
            <a:lvl1pPr algn="r" eaLnBrk="1">
              <a:defRPr sz="1400"/>
            </a:lvl1pPr>
          </a:lstStyle>
          <a:p>
            <a:fld id="{8AC5378F-87D5-4EF9-B054-A4FE48F11FC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ransition spd="med"/>
  <p:txStyles>
    <p:titleStyle>
      <a:lvl1pPr algn="ctr" rtl="0" eaLnBrk="0" fontAlgn="base" hangingPunct="0">
        <a:spcBef>
          <a:spcPct val="0"/>
        </a:spcBef>
        <a:spcAft>
          <a:spcPct val="0"/>
        </a:spcAft>
        <a:defRPr sz="4400">
          <a:solidFill>
            <a:srgbClr val="000000"/>
          </a:solidFill>
          <a:latin typeface="Calibri Light"/>
          <a:ea typeface="Calibri Light"/>
          <a:cs typeface="Calibri Light"/>
          <a:sym typeface="Calibri Light" panose="020F0302020204030204" pitchFamily="34" charset="0"/>
        </a:defRPr>
      </a:lvl1pPr>
      <a:lvl2pPr algn="ctr" rtl="0" eaLnBrk="0" fontAlgn="base" hangingPunct="0">
        <a:spcBef>
          <a:spcPct val="0"/>
        </a:spcBef>
        <a:spcAft>
          <a:spcPct val="0"/>
        </a:spcAft>
        <a:defRPr sz="4400">
          <a:solidFill>
            <a:srgbClr val="000000"/>
          </a:solidFill>
          <a:latin typeface="Calibri Light"/>
          <a:ea typeface="Calibri Light"/>
          <a:cs typeface="Calibri Light"/>
          <a:sym typeface="Calibri Light" panose="020F0302020204030204" pitchFamily="34" charset="0"/>
        </a:defRPr>
      </a:lvl2pPr>
      <a:lvl3pPr algn="ctr" rtl="0" eaLnBrk="0" fontAlgn="base" hangingPunct="0">
        <a:spcBef>
          <a:spcPct val="0"/>
        </a:spcBef>
        <a:spcAft>
          <a:spcPct val="0"/>
        </a:spcAft>
        <a:defRPr sz="4400">
          <a:solidFill>
            <a:srgbClr val="000000"/>
          </a:solidFill>
          <a:latin typeface="Calibri Light"/>
          <a:ea typeface="Calibri Light"/>
          <a:cs typeface="Calibri Light"/>
          <a:sym typeface="Calibri Light" panose="020F0302020204030204" pitchFamily="34" charset="0"/>
        </a:defRPr>
      </a:lvl3pPr>
      <a:lvl4pPr algn="ctr" rtl="0" eaLnBrk="0" fontAlgn="base" hangingPunct="0">
        <a:spcBef>
          <a:spcPct val="0"/>
        </a:spcBef>
        <a:spcAft>
          <a:spcPct val="0"/>
        </a:spcAft>
        <a:defRPr sz="4400">
          <a:solidFill>
            <a:srgbClr val="000000"/>
          </a:solidFill>
          <a:latin typeface="Calibri Light"/>
          <a:ea typeface="Calibri Light"/>
          <a:cs typeface="Calibri Light"/>
          <a:sym typeface="Calibri Light" panose="020F0302020204030204" pitchFamily="34" charset="0"/>
        </a:defRPr>
      </a:lvl4pPr>
      <a:lvl5pPr algn="ctr" rtl="0" eaLnBrk="0" fontAlgn="base" hangingPunct="0">
        <a:spcBef>
          <a:spcPct val="0"/>
        </a:spcBef>
        <a:spcAft>
          <a:spcPct val="0"/>
        </a:spcAft>
        <a:defRPr sz="4400">
          <a:solidFill>
            <a:srgbClr val="000000"/>
          </a:solidFill>
          <a:latin typeface="Calibri Light"/>
          <a:ea typeface="Calibri Light"/>
          <a:cs typeface="Calibri Light"/>
          <a:sym typeface="Calibri Light" panose="020F0302020204030204" pitchFamily="34" charset="0"/>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indent="-342900" algn="l" rtl="0" eaLnBrk="0" fontAlgn="base" hangingPunct="0">
        <a:spcBef>
          <a:spcPts val="700"/>
        </a:spcBef>
        <a:spcAft>
          <a:spcPct val="0"/>
        </a:spcAft>
        <a:buSzPct val="100000"/>
        <a:buChar char="»"/>
        <a:defRPr sz="3200">
          <a:solidFill>
            <a:srgbClr val="000000"/>
          </a:solidFill>
          <a:latin typeface="Calibri"/>
          <a:ea typeface="Calibri"/>
          <a:cs typeface="Calibri"/>
          <a:sym typeface="Calibri" panose="020F0502020204030204" pitchFamily="34" charset="0"/>
        </a:defRPr>
      </a:lvl1pPr>
      <a:lvl2pPr marL="782638" indent="-325438" algn="l" rtl="0" eaLnBrk="0" fontAlgn="base" hangingPunct="0">
        <a:spcBef>
          <a:spcPts val="700"/>
        </a:spcBef>
        <a:spcAft>
          <a:spcPct val="0"/>
        </a:spcAft>
        <a:buSzPct val="100000"/>
        <a:buChar char="–"/>
        <a:defRPr sz="3200">
          <a:solidFill>
            <a:srgbClr val="000000"/>
          </a:solidFill>
          <a:latin typeface="Calibri"/>
          <a:ea typeface="Calibri"/>
          <a:cs typeface="Calibri"/>
          <a:sym typeface="Calibri" panose="020F0502020204030204" pitchFamily="34" charset="0"/>
        </a:defRPr>
      </a:lvl2pPr>
      <a:lvl3pPr marL="1219200" indent="-304800" algn="l" rtl="0" eaLnBrk="0" fontAlgn="base" hangingPunct="0">
        <a:spcBef>
          <a:spcPts val="700"/>
        </a:spcBef>
        <a:spcAft>
          <a:spcPct val="0"/>
        </a:spcAft>
        <a:buSzPct val="100000"/>
        <a:buChar char="•"/>
        <a:defRPr sz="3200">
          <a:solidFill>
            <a:srgbClr val="000000"/>
          </a:solidFill>
          <a:latin typeface="Calibri"/>
          <a:ea typeface="Calibri"/>
          <a:cs typeface="Calibri"/>
          <a:sym typeface="Calibri" panose="020F0502020204030204" pitchFamily="34" charset="0"/>
        </a:defRPr>
      </a:lvl3pPr>
      <a:lvl4pPr marL="1736725" indent="-365125" algn="l" rtl="0" eaLnBrk="0" fontAlgn="base" hangingPunct="0">
        <a:spcBef>
          <a:spcPts val="700"/>
        </a:spcBef>
        <a:spcAft>
          <a:spcPct val="0"/>
        </a:spcAft>
        <a:buSzPct val="100000"/>
        <a:buChar char="–"/>
        <a:defRPr sz="3200">
          <a:solidFill>
            <a:srgbClr val="000000"/>
          </a:solidFill>
          <a:latin typeface="Calibri"/>
          <a:ea typeface="Calibri"/>
          <a:cs typeface="Calibri"/>
          <a:sym typeface="Calibri" panose="020F0502020204030204" pitchFamily="34" charset="0"/>
        </a:defRPr>
      </a:lvl4pPr>
      <a:lvl5pPr marL="2235200" indent="-406400" algn="l" rtl="0" eaLnBrk="0" fontAlgn="base" hangingPunct="0">
        <a:spcBef>
          <a:spcPts val="700"/>
        </a:spcBef>
        <a:spcAft>
          <a:spcPct val="0"/>
        </a:spcAft>
        <a:buSzPct val="100000"/>
        <a:buChar char="»"/>
        <a:defRPr sz="3200">
          <a:solidFill>
            <a:srgbClr val="000000"/>
          </a:solidFill>
          <a:latin typeface="Calibri"/>
          <a:ea typeface="Calibri"/>
          <a:cs typeface="Calibri"/>
          <a:sym typeface="Calibri" panose="020F0502020204030204" pitchFamily="34" charset="0"/>
        </a:defRPr>
      </a:lvl5pPr>
      <a:lvl6pPr marL="2692400" marR="0" indent="-40640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Calibri"/>
          <a:ea typeface="Calibri"/>
          <a:cs typeface="Calibri"/>
          <a:sym typeface="Calibri"/>
        </a:defRPr>
      </a:lvl6pPr>
      <a:lvl7pPr marL="3149600" marR="0" indent="-40640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Calibri"/>
          <a:ea typeface="Calibri"/>
          <a:cs typeface="Calibri"/>
          <a:sym typeface="Calibri"/>
        </a:defRPr>
      </a:lvl7pPr>
      <a:lvl8pPr marL="3606800" marR="0" indent="-40640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Calibri"/>
          <a:ea typeface="Calibri"/>
          <a:cs typeface="Calibri"/>
          <a:sym typeface="Calibri"/>
        </a:defRPr>
      </a:lvl8pPr>
      <a:lvl9pPr marL="4064000" marR="0" indent="-406400" algn="l" defTabSz="914400" rtl="0" latinLnBrk="0">
        <a:lnSpc>
          <a:spcPct val="100000"/>
        </a:lnSpc>
        <a:spcBef>
          <a:spcPts val="700"/>
        </a:spcBef>
        <a:spcAft>
          <a:spcPts val="0"/>
        </a:spcAft>
        <a:buClrTx/>
        <a:buSzPct val="100000"/>
        <a:buFontTx/>
        <a:buChar char=""/>
        <a:tabLst/>
        <a:defRPr sz="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38" name="Fine-Tuning LLMs from Textual Documents: Performance, Cost, and Integration Analysis">
            <a:extLst>
              <a:ext uri="{FF2B5EF4-FFF2-40B4-BE49-F238E27FC236}">
                <a16:creationId xmlns:a16="http://schemas.microsoft.com/office/drawing/2014/main" id="{E6516A67-1F53-E103-DB41-34BC4B2C78C0}"/>
              </a:ext>
            </a:extLst>
          </p:cNvPr>
          <p:cNvSpPr txBox="1">
            <a:spLocks noGrp="1" noChangeArrowheads="1"/>
          </p:cNvSpPr>
          <p:nvPr>
            <p:ph type="title" idx="4294967295"/>
          </p:nvPr>
        </p:nvSpPr>
        <p:spPr>
          <a:xfrm>
            <a:off x="312738" y="2646363"/>
            <a:ext cx="8280400" cy="544512"/>
          </a:xfrm>
        </p:spPr>
        <p:txBody>
          <a:bodyPr/>
          <a:lstStyle/>
          <a:p>
            <a:pPr algn="r" defTabSz="457200"/>
            <a:r>
              <a:rPr lang="en-US" sz="1800" dirty="0"/>
              <a:t>Personalized Skincare Recommendations Using RAG and Large Language Models</a:t>
            </a:r>
            <a:endParaRPr lang="en-US" dirty="0"/>
          </a:p>
        </p:txBody>
      </p:sp>
      <p:pic>
        <p:nvPicPr>
          <p:cNvPr id="14339" name="image.png" descr="image.png">
            <a:extLst>
              <a:ext uri="{FF2B5EF4-FFF2-40B4-BE49-F238E27FC236}">
                <a16:creationId xmlns:a16="http://schemas.microsoft.com/office/drawing/2014/main" id="{FB4E261A-78A2-8BB2-6C77-F4A4ADD431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260350"/>
            <a:ext cx="376078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4340" name="Candidate: Krenar Darlishta…">
            <a:extLst>
              <a:ext uri="{FF2B5EF4-FFF2-40B4-BE49-F238E27FC236}">
                <a16:creationId xmlns:a16="http://schemas.microsoft.com/office/drawing/2014/main" id="{5AC07FD4-ABA0-4AAD-92AA-6E2CDBB048B9}"/>
              </a:ext>
            </a:extLst>
          </p:cNvPr>
          <p:cNvSpPr txBox="1">
            <a:spLocks noChangeArrowheads="1"/>
          </p:cNvSpPr>
          <p:nvPr/>
        </p:nvSpPr>
        <p:spPr bwMode="auto">
          <a:xfrm>
            <a:off x="764483" y="4652963"/>
            <a:ext cx="25397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45719" tIns="45720" rIns="45719" bIns="45720" anchor="t">
            <a:spAutoFit/>
          </a:bodyPr>
          <a:lstStyle/>
          <a:p>
            <a:pPr algn="ctr" eaLnBrk="1"/>
            <a:r>
              <a:rPr lang="en-US" altLang="en-US" dirty="0">
                <a:latin typeface="Calibri Light"/>
                <a:cs typeface="Calibri Light"/>
                <a:sym typeface="Calibri Light" panose="020F0302020204030204" pitchFamily="34" charset="0"/>
              </a:rPr>
              <a:t>Candidate: </a:t>
            </a:r>
            <a:r>
              <a:rPr lang="en-US" altLang="en-US" b="1" dirty="0">
                <a:latin typeface="Carlito"/>
                <a:cs typeface="Calibri Light"/>
                <a:sym typeface="Carlito"/>
              </a:rPr>
              <a:t>Diellza </a:t>
            </a:r>
            <a:r>
              <a:rPr lang="en-US" altLang="en-US" b="1" dirty="0" err="1">
                <a:latin typeface="Carlito"/>
                <a:cs typeface="Calibri Light"/>
                <a:sym typeface="Carlito"/>
              </a:rPr>
              <a:t>Qerimi</a:t>
            </a:r>
            <a:endParaRPr lang="en-US" altLang="en-US" b="1" dirty="0" err="1">
              <a:latin typeface="Carlito"/>
              <a:ea typeface="Carlito"/>
              <a:cs typeface="Calibri Light"/>
              <a:sym typeface="Carlito"/>
            </a:endParaRPr>
          </a:p>
          <a:p>
            <a:pPr algn="ctr" eaLnBrk="1"/>
            <a:r>
              <a:rPr lang="en-US" altLang="en-US" dirty="0">
                <a:latin typeface="Calibri Light"/>
                <a:cs typeface="Calibri Light"/>
                <a:sym typeface="Calibri Light" panose="020F0302020204030204" pitchFamily="34" charset="0"/>
              </a:rPr>
              <a:t>(dq27828@seeu.edu.mk)</a:t>
            </a:r>
            <a:endParaRPr lang="en-US" altLang="en-US" dirty="0">
              <a:latin typeface="Calibri Light"/>
              <a:cs typeface="Calibri Light"/>
            </a:endParaRPr>
          </a:p>
        </p:txBody>
      </p:sp>
      <p:sp>
        <p:nvSpPr>
          <p:cNvPr id="14341" name="Mentor:  Asst. Prof. Dr. Nuhi Besimi…">
            <a:extLst>
              <a:ext uri="{FF2B5EF4-FFF2-40B4-BE49-F238E27FC236}">
                <a16:creationId xmlns:a16="http://schemas.microsoft.com/office/drawing/2014/main" id="{675F8AFA-ED6F-150B-A775-0CC3A68017A6}"/>
              </a:ext>
            </a:extLst>
          </p:cNvPr>
          <p:cNvSpPr txBox="1">
            <a:spLocks noChangeArrowheads="1"/>
          </p:cNvSpPr>
          <p:nvPr/>
        </p:nvSpPr>
        <p:spPr bwMode="auto">
          <a:xfrm>
            <a:off x="5297488" y="4652963"/>
            <a:ext cx="341312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45719" rIns="45719">
            <a:spAutoFit/>
          </a:bodyPr>
          <a:lstStyle/>
          <a:p>
            <a:pPr algn="ctr" eaLnBrk="1"/>
            <a:r>
              <a:rPr lang="en-US" altLang="en-US">
                <a:latin typeface="Calibri Light" panose="020F0302020204030204" pitchFamily="34" charset="0"/>
                <a:cs typeface="Calibri Light" panose="020F0302020204030204" pitchFamily="34" charset="0"/>
                <a:sym typeface="Calibri Light" panose="020F0302020204030204" pitchFamily="34" charset="0"/>
              </a:rPr>
              <a:t>Mentor: </a:t>
            </a:r>
            <a:r>
              <a:rPr lang="en-US" altLang="en-US" sz="1000">
                <a:latin typeface="Arial" panose="020B0604020202020204" pitchFamily="34" charset="0"/>
                <a:cs typeface="Arial" panose="020B0604020202020204" pitchFamily="34" charset="0"/>
                <a:sym typeface="Arial" panose="020B0604020202020204" pitchFamily="34" charset="0"/>
              </a:rPr>
              <a:t> </a:t>
            </a:r>
            <a:r>
              <a:rPr lang="en-US" altLang="en-US" b="1">
                <a:latin typeface="Carlito"/>
                <a:ea typeface="Carlito"/>
                <a:cs typeface="Carlito"/>
                <a:sym typeface="Carlito"/>
              </a:rPr>
              <a:t>Asst. Prof. Dr. Nuhi Besimi</a:t>
            </a:r>
          </a:p>
          <a:p>
            <a:pPr algn="ctr" eaLnBrk="1"/>
            <a:r>
              <a:rPr lang="en-US" altLang="en-US">
                <a:latin typeface="Calibri Light" panose="020F0302020204030204" pitchFamily="34" charset="0"/>
                <a:cs typeface="Calibri Light" panose="020F0302020204030204" pitchFamily="34" charset="0"/>
                <a:sym typeface="Calibri Light" panose="020F0302020204030204" pitchFamily="34" charset="0"/>
              </a:rPr>
              <a:t>(n.besimi@seeu.edu.mk)</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Introduction">
            <a:extLst>
              <a:ext uri="{FF2B5EF4-FFF2-40B4-BE49-F238E27FC236}">
                <a16:creationId xmlns:a16="http://schemas.microsoft.com/office/drawing/2014/main" id="{02C686D1-F564-BDD9-7541-EC202D0F73AF}"/>
              </a:ext>
            </a:extLst>
          </p:cNvPr>
          <p:cNvSpPr txBox="1">
            <a:spLocks noGrp="1" noChangeArrowheads="1"/>
          </p:cNvSpPr>
          <p:nvPr>
            <p:ph type="title" idx="4294967295"/>
          </p:nvPr>
        </p:nvSpPr>
        <p:spPr>
          <a:xfrm>
            <a:off x="395288" y="188913"/>
            <a:ext cx="8229600" cy="981075"/>
          </a:xfrm>
        </p:spPr>
        <p:txBody>
          <a:bodyPr/>
          <a:lstStyle/>
          <a:p>
            <a:pPr eaLnBrk="1" hangingPunct="1"/>
            <a:r>
              <a:rPr lang="en-US" altLang="en-US">
                <a:latin typeface="Calibri Light" panose="020F0302020204030204" pitchFamily="34" charset="0"/>
                <a:cs typeface="Calibri Light" panose="020F0302020204030204" pitchFamily="34" charset="0"/>
              </a:rPr>
              <a:t>Introduction</a:t>
            </a:r>
          </a:p>
        </p:txBody>
      </p:sp>
      <p:sp>
        <p:nvSpPr>
          <p:cNvPr id="135" name="AI is growing fast and changing many industries. Companies see that AI can help them work better, save money, and improve how they serve their customers.…">
            <a:extLst>
              <a:ext uri="{FF2B5EF4-FFF2-40B4-BE49-F238E27FC236}">
                <a16:creationId xmlns:a16="http://schemas.microsoft.com/office/drawing/2014/main" id="{AC1DF198-939F-B52E-F0CE-D5C0C04DDCFC}"/>
              </a:ext>
            </a:extLst>
          </p:cNvPr>
          <p:cNvSpPr txBox="1">
            <a:spLocks noGrp="1"/>
          </p:cNvSpPr>
          <p:nvPr>
            <p:ph type="body" sz="half" idx="4294967295"/>
          </p:nvPr>
        </p:nvSpPr>
        <p:spPr>
          <a:xfrm>
            <a:off x="508324" y="2050402"/>
            <a:ext cx="8126413" cy="3046413"/>
          </a:xfrm>
        </p:spPr>
        <p:txBody>
          <a:bodyPr anchor="ctr">
            <a:normAutofit/>
          </a:bodyPr>
          <a:lstStyle/>
          <a:p>
            <a:pPr marL="0" indent="0" defTabSz="904875">
              <a:spcBef>
                <a:spcPct val="0"/>
              </a:spcBef>
              <a:buNone/>
            </a:pPr>
            <a:r>
              <a:rPr lang="en-US" sz="1500" dirty="0"/>
              <a:t>The skincare industry has grown rapidly, offering a wide range of products for diverse skin types and needs. </a:t>
            </a:r>
            <a:endParaRPr lang="en-US"/>
          </a:p>
          <a:p>
            <a:pPr marL="0" indent="0" defTabSz="904875">
              <a:spcBef>
                <a:spcPct val="0"/>
              </a:spcBef>
              <a:buNone/>
            </a:pPr>
            <a:endParaRPr lang="en-US" sz="1500" dirty="0"/>
          </a:p>
          <a:p>
            <a:pPr marL="0" indent="0" defTabSz="904875">
              <a:spcBef>
                <a:spcPct val="0"/>
              </a:spcBef>
              <a:buNone/>
            </a:pPr>
            <a:r>
              <a:rPr lang="en-US" sz="1500" dirty="0"/>
              <a:t>In step with the wider market, the industry has turned to AI to modernize how products are recommended and evaluated.</a:t>
            </a:r>
            <a:endParaRPr lang="en-US" dirty="0"/>
          </a:p>
          <a:p>
            <a:pPr marL="0" indent="0" defTabSz="904875">
              <a:spcBef>
                <a:spcPct val="0"/>
              </a:spcBef>
              <a:buSzTx/>
              <a:buNone/>
            </a:pPr>
            <a:endParaRPr lang="en-US" altLang="en-US" sz="1500" dirty="0"/>
          </a:p>
          <a:p>
            <a:pPr marL="0" indent="0" defTabSz="904875">
              <a:spcBef>
                <a:spcPct val="0"/>
              </a:spcBef>
              <a:buNone/>
            </a:pPr>
            <a:r>
              <a:rPr lang="en-US" sz="1500" dirty="0"/>
              <a:t>Implementations typically center on large language models (LLMs), with recent work integrating retrieval-augmented generation (RAG) to enhance relevance and factuality.</a:t>
            </a:r>
            <a:endParaRPr lang="en-US" dirty="0"/>
          </a:p>
          <a:p>
            <a:pPr marL="0" indent="0" defTabSz="904875">
              <a:spcBef>
                <a:spcPct val="0"/>
              </a:spcBef>
              <a:buNone/>
            </a:pPr>
            <a:endParaRPr lang="en-US" sz="1500" dirty="0"/>
          </a:p>
          <a:p>
            <a:pPr marL="0" indent="0" defTabSz="904875">
              <a:spcBef>
                <a:spcPct val="0"/>
              </a:spcBef>
              <a:buNone/>
            </a:pPr>
            <a:r>
              <a:rPr lang="en-US" sz="1500" dirty="0"/>
              <a:t>Collectively, these developments advance the industry toward simpler, smarter, and individually tailored skincare decision-making.</a:t>
            </a:r>
            <a:endParaRPr lang="en-US"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ims of the Research">
            <a:extLst>
              <a:ext uri="{FF2B5EF4-FFF2-40B4-BE49-F238E27FC236}">
                <a16:creationId xmlns:a16="http://schemas.microsoft.com/office/drawing/2014/main" id="{8EE36919-32F1-6CE0-8155-DA2F6901421F}"/>
              </a:ext>
            </a:extLst>
          </p:cNvPr>
          <p:cNvSpPr txBox="1">
            <a:spLocks noGrp="1" noChangeArrowheads="1"/>
          </p:cNvSpPr>
          <p:nvPr>
            <p:ph type="title" idx="4294967295"/>
          </p:nvPr>
        </p:nvSpPr>
        <p:spPr>
          <a:xfrm>
            <a:off x="457200" y="196850"/>
            <a:ext cx="8229600" cy="1143000"/>
          </a:xfrm>
        </p:spPr>
        <p:txBody>
          <a:bodyPr/>
          <a:lstStyle/>
          <a:p>
            <a:pPr eaLnBrk="1" hangingPunct="1"/>
            <a:r>
              <a:rPr lang="en-US" altLang="en-US">
                <a:latin typeface="Calibri Light" panose="020F0302020204030204" pitchFamily="34" charset="0"/>
                <a:cs typeface="Calibri Light" panose="020F0302020204030204" pitchFamily="34" charset="0"/>
              </a:rPr>
              <a:t>Aims of the Research</a:t>
            </a:r>
          </a:p>
        </p:txBody>
      </p:sp>
      <p:sp>
        <p:nvSpPr>
          <p:cNvPr id="16387" name="To develop a streamlined approach for text pre-processing and dataset creation for effective fine-tuning.…">
            <a:extLst>
              <a:ext uri="{FF2B5EF4-FFF2-40B4-BE49-F238E27FC236}">
                <a16:creationId xmlns:a16="http://schemas.microsoft.com/office/drawing/2014/main" id="{1A219993-9908-A998-2877-381527D7B838}"/>
              </a:ext>
            </a:extLst>
          </p:cNvPr>
          <p:cNvSpPr txBox="1">
            <a:spLocks noGrp="1" noChangeArrowheads="1"/>
          </p:cNvSpPr>
          <p:nvPr>
            <p:ph type="body" idx="4294967295"/>
          </p:nvPr>
        </p:nvSpPr>
        <p:spPr>
          <a:xfrm>
            <a:off x="463486" y="2365375"/>
            <a:ext cx="8217028" cy="3241675"/>
          </a:xfrm>
        </p:spPr>
        <p:txBody>
          <a:bodyPr anchor="ctr"/>
          <a:lstStyle/>
          <a:p>
            <a:pPr marL="0" indent="0">
              <a:spcBef>
                <a:spcPct val="0"/>
              </a:spcBef>
              <a:buNone/>
            </a:pPr>
            <a:r>
              <a:rPr lang="en-US" sz="1500" dirty="0"/>
              <a:t>Develop a personalized recommendation framework that integrates LLMs with RAG to analyze user-generated reviews and product information.</a:t>
            </a:r>
            <a:endParaRPr lang="en-US" dirty="0"/>
          </a:p>
          <a:p>
            <a:pPr marL="0" indent="0">
              <a:spcBef>
                <a:spcPct val="0"/>
              </a:spcBef>
              <a:buNone/>
            </a:pPr>
            <a:endParaRPr lang="en-US" sz="1500" dirty="0"/>
          </a:p>
          <a:p>
            <a:pPr marL="0" indent="0">
              <a:buNone/>
            </a:pPr>
            <a:r>
              <a:rPr lang="en-US" sz="1500" dirty="0"/>
              <a:t>Utilize vector databases to store and retrieve skincare-related knowledge efficiently, ensuring faster and more accurate recommendation results.</a:t>
            </a:r>
            <a:endParaRPr lang="en-US" dirty="0"/>
          </a:p>
          <a:p>
            <a:pPr marL="0" indent="0">
              <a:spcBef>
                <a:spcPct val="0"/>
              </a:spcBef>
              <a:buNone/>
            </a:pPr>
            <a:endParaRPr lang="en-US" sz="1500" dirty="0"/>
          </a:p>
          <a:p>
            <a:pPr marL="0" indent="0">
              <a:spcBef>
                <a:spcPct val="0"/>
              </a:spcBef>
              <a:buNone/>
            </a:pPr>
            <a:r>
              <a:rPr lang="en-US" sz="1500"/>
              <a:t>Explore how integrating RAG with LLMs introduces new capabilities for domain-specific personalization in skincare recommendations.</a:t>
            </a:r>
          </a:p>
          <a:p>
            <a:pPr marL="0" indent="0">
              <a:spcBef>
                <a:spcPct val="0"/>
              </a:spcBef>
              <a:buNone/>
            </a:pPr>
            <a:endParaRPr lang="en-US" sz="1500" dirty="0"/>
          </a:p>
          <a:p>
            <a:pPr marL="0" indent="0">
              <a:spcBef>
                <a:spcPct val="0"/>
              </a:spcBef>
              <a:buNone/>
            </a:pPr>
            <a:r>
              <a:rPr lang="en-US" sz="1500"/>
              <a:t>Investigate how users perceive the usefulness, clarity, and personalization of the recommendations provided by the system.</a:t>
            </a:r>
            <a:endParaRPr lang="en-US"/>
          </a:p>
          <a:p>
            <a:pPr>
              <a:buNone/>
            </a:pPr>
            <a:endParaRPr lang="en-US" sz="1500" dirty="0"/>
          </a:p>
          <a:p>
            <a:pPr marL="0" indent="0">
              <a:spcBef>
                <a:spcPct val="0"/>
              </a:spcBef>
              <a:buNone/>
            </a:pPr>
            <a:endParaRPr lang="en-US" sz="1500"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search Questions">
            <a:extLst>
              <a:ext uri="{FF2B5EF4-FFF2-40B4-BE49-F238E27FC236}">
                <a16:creationId xmlns:a16="http://schemas.microsoft.com/office/drawing/2014/main" id="{AAF51399-C08C-09AC-66FD-82BDE52FB4AB}"/>
              </a:ext>
            </a:extLst>
          </p:cNvPr>
          <p:cNvSpPr txBox="1">
            <a:spLocks noGrp="1" noChangeArrowheads="1"/>
          </p:cNvSpPr>
          <p:nvPr>
            <p:ph type="title" idx="4294967295"/>
          </p:nvPr>
        </p:nvSpPr>
        <p:spPr>
          <a:xfrm>
            <a:off x="457200" y="260350"/>
            <a:ext cx="8229600" cy="1143000"/>
          </a:xfrm>
        </p:spPr>
        <p:txBody>
          <a:bodyPr/>
          <a:lstStyle/>
          <a:p>
            <a:pPr eaLnBrk="1" hangingPunct="1"/>
            <a:r>
              <a:rPr lang="en-US" altLang="en-US">
                <a:latin typeface="Calibri Light" panose="020F0302020204030204" pitchFamily="34" charset="0"/>
                <a:cs typeface="Calibri Light" panose="020F0302020204030204" pitchFamily="34" charset="0"/>
              </a:rPr>
              <a:t>Research Questions</a:t>
            </a:r>
          </a:p>
        </p:txBody>
      </p:sp>
      <p:sp>
        <p:nvSpPr>
          <p:cNvPr id="17411" name="Which of the large language models—Mistral, LLama 3, GPT-4 —will perform best for analyzing and understanding  full-text documents?…">
            <a:extLst>
              <a:ext uri="{FF2B5EF4-FFF2-40B4-BE49-F238E27FC236}">
                <a16:creationId xmlns:a16="http://schemas.microsoft.com/office/drawing/2014/main" id="{89CA031B-A0D0-4363-E251-941C0D76F091}"/>
              </a:ext>
            </a:extLst>
          </p:cNvPr>
          <p:cNvSpPr txBox="1">
            <a:spLocks noGrp="1" noChangeArrowheads="1"/>
          </p:cNvSpPr>
          <p:nvPr>
            <p:ph type="body" idx="4294967295"/>
          </p:nvPr>
        </p:nvSpPr>
        <p:spPr>
          <a:xfrm>
            <a:off x="457200" y="2427288"/>
            <a:ext cx="8229600" cy="3633787"/>
          </a:xfrm>
        </p:spPr>
        <p:txBody>
          <a:bodyPr/>
          <a:lstStyle/>
          <a:p>
            <a:pPr marL="0" indent="0" eaLnBrk="1" hangingPunct="1">
              <a:spcBef>
                <a:spcPts val="300"/>
              </a:spcBef>
              <a:buSzTx/>
              <a:buNone/>
            </a:pPr>
            <a:r>
              <a:rPr lang="en-US" sz="1500" dirty="0"/>
              <a:t>How does the integration of LLMs with retrieval mechanisms improve the personalization of skincare product suggestions compared to traditional recommendation methods?</a:t>
            </a:r>
            <a:endParaRPr lang="en-US" dirty="0"/>
          </a:p>
          <a:p>
            <a:pPr marL="0" indent="0">
              <a:spcBef>
                <a:spcPts val="300"/>
              </a:spcBef>
              <a:buNone/>
            </a:pPr>
            <a:endParaRPr lang="en-US" sz="1500" dirty="0"/>
          </a:p>
          <a:p>
            <a:pPr marL="0" indent="0">
              <a:spcBef>
                <a:spcPts val="300"/>
              </a:spcBef>
              <a:buNone/>
            </a:pPr>
            <a:r>
              <a:rPr lang="en-US" sz="1500" dirty="0"/>
              <a:t>How does incorporating real user feedback through reviews affect the accuracy and trustworthiness of skincare recommendations generated by the system?</a:t>
            </a:r>
            <a:endParaRPr lang="en-US"/>
          </a:p>
          <a:p>
            <a:pPr marL="0" indent="0" eaLnBrk="1" hangingPunct="1">
              <a:buSzTx/>
              <a:buFontTx/>
              <a:buNone/>
            </a:pPr>
            <a:endParaRPr lang="en-US" altLang="en-US" sz="1500" dirty="0">
              <a:latin typeface="Calibri" panose="020F0502020204030204" pitchFamily="34" charset="0"/>
              <a:cs typeface="Calibri" panose="020F0502020204030204" pitchFamily="34" charset="0"/>
            </a:endParaRPr>
          </a:p>
          <a:p>
            <a:pPr marL="0" indent="0">
              <a:spcBef>
                <a:spcPts val="300"/>
              </a:spcBef>
              <a:buNone/>
            </a:pPr>
            <a:r>
              <a:rPr lang="en-US" sz="1500" dirty="0"/>
              <a:t>What role do vector databases play in improving the speed and accuracy of information retrieval in a RAG-based recommendation system?</a:t>
            </a:r>
          </a:p>
          <a:p>
            <a:pPr marL="0" indent="0">
              <a:spcBef>
                <a:spcPts val="300"/>
              </a:spcBef>
              <a:buFontTx/>
              <a:buNone/>
            </a:pPr>
            <a:endParaRPr lang="en-US" sz="1500" dirty="0">
              <a:latin typeface="Calibri" panose="020F0502020204030204" pitchFamily="34" charset="0"/>
              <a:cs typeface="Calibri" panose="020F0502020204030204" pitchFamily="34" charset="0"/>
            </a:endParaRPr>
          </a:p>
          <a:p>
            <a:pPr marL="0" indent="0">
              <a:buNone/>
            </a:pPr>
            <a:r>
              <a:rPr lang="en-US" sz="1500" dirty="0"/>
              <a:t>To what extent can RAG-based systems improve the efficiency, diversity, and reliability of skincare recommendations?</a:t>
            </a:r>
            <a:endParaRPr lang="en-US"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Hypotheses">
            <a:extLst>
              <a:ext uri="{FF2B5EF4-FFF2-40B4-BE49-F238E27FC236}">
                <a16:creationId xmlns:a16="http://schemas.microsoft.com/office/drawing/2014/main" id="{5E8C8340-1416-803A-C111-8AD2EA27FDCA}"/>
              </a:ext>
            </a:extLst>
          </p:cNvPr>
          <p:cNvSpPr txBox="1">
            <a:spLocks noGrp="1" noChangeArrowheads="1"/>
          </p:cNvSpPr>
          <p:nvPr>
            <p:ph type="title" idx="4294967295"/>
          </p:nvPr>
        </p:nvSpPr>
        <p:spPr/>
        <p:txBody>
          <a:bodyPr/>
          <a:lstStyle/>
          <a:p>
            <a:pPr eaLnBrk="1" hangingPunct="1"/>
            <a:r>
              <a:rPr lang="en-US" altLang="en-US">
                <a:latin typeface="Calibri Light" panose="020F0302020204030204" pitchFamily="34" charset="0"/>
                <a:cs typeface="Calibri Light" panose="020F0302020204030204" pitchFamily="34" charset="0"/>
              </a:rPr>
              <a:t>Hypotheses</a:t>
            </a:r>
          </a:p>
        </p:txBody>
      </p:sp>
      <p:sp>
        <p:nvSpPr>
          <p:cNvPr id="144" name="Fine-tuning LLMs such as GPT-4, Mistral, and LLama 3 yields better performance for textual documents compared to an SLM, but is more expensive and requires more resources.…">
            <a:extLst>
              <a:ext uri="{FF2B5EF4-FFF2-40B4-BE49-F238E27FC236}">
                <a16:creationId xmlns:a16="http://schemas.microsoft.com/office/drawing/2014/main" id="{30E74CCD-1204-1321-0BC1-F9B4309EF14F}"/>
              </a:ext>
            </a:extLst>
          </p:cNvPr>
          <p:cNvSpPr txBox="1">
            <a:spLocks noGrp="1"/>
          </p:cNvSpPr>
          <p:nvPr>
            <p:ph type="body" idx="4294967295"/>
          </p:nvPr>
        </p:nvSpPr>
        <p:spPr>
          <a:xfrm>
            <a:off x="457200" y="2446338"/>
            <a:ext cx="8229600" cy="3173199"/>
          </a:xfrm>
        </p:spPr>
        <p:txBody>
          <a:bodyPr>
            <a:normAutofit/>
          </a:bodyPr>
          <a:lstStyle/>
          <a:p>
            <a:pPr marL="0" indent="0">
              <a:spcBef>
                <a:spcPts val="300"/>
              </a:spcBef>
              <a:buNone/>
            </a:pPr>
            <a:r>
              <a:rPr lang="en-US" sz="1500" dirty="0"/>
              <a:t>A skincare recommendation system that integrates RAG with LLMs will reduce irrelevant or conflicting product suggestions compared to LLM-only systems.</a:t>
            </a:r>
            <a:endParaRPr lang="en-US" dirty="0"/>
          </a:p>
          <a:p>
            <a:pPr marL="0" indent="0">
              <a:spcBef>
                <a:spcPts val="300"/>
              </a:spcBef>
              <a:buNone/>
            </a:pPr>
            <a:endParaRPr lang="en-US" sz="1500" dirty="0"/>
          </a:p>
          <a:p>
            <a:pPr marL="0" indent="0">
              <a:spcBef>
                <a:spcPts val="300"/>
              </a:spcBef>
              <a:buNone/>
            </a:pPr>
            <a:r>
              <a:rPr lang="en-US" sz="1500" dirty="0"/>
              <a:t>Incorporating user-generated reviews into the RAG framework will improve the accuracy and trustworthiness of skincare recommendations.</a:t>
            </a:r>
            <a:endParaRPr lang="en-US" dirty="0"/>
          </a:p>
          <a:p>
            <a:pPr marL="0" indent="0">
              <a:spcBef>
                <a:spcPts val="300"/>
              </a:spcBef>
              <a:buNone/>
            </a:pPr>
            <a:endParaRPr lang="en-US" sz="1500" dirty="0"/>
          </a:p>
          <a:p>
            <a:pPr marL="0" indent="0">
              <a:spcBef>
                <a:spcPts val="300"/>
              </a:spcBef>
              <a:buNone/>
            </a:pPr>
            <a:r>
              <a:rPr lang="en-US" sz="1500" dirty="0"/>
              <a:t>The integration of vector databases into a RAG-based skincare system will significantly improve retrieval speed and information accuracy compared to non-vector retrieval approaches.</a:t>
            </a:r>
            <a:endParaRPr lang="en-US" dirty="0"/>
          </a:p>
          <a:p>
            <a:pPr marL="0" indent="0">
              <a:spcBef>
                <a:spcPts val="300"/>
              </a:spcBef>
              <a:buNone/>
            </a:pPr>
            <a:endParaRPr lang="en-US" sz="1500" dirty="0"/>
          </a:p>
          <a:p>
            <a:pPr marL="0" indent="0">
              <a:spcBef>
                <a:spcPts val="300"/>
              </a:spcBef>
              <a:buNone/>
            </a:pPr>
            <a:r>
              <a:rPr lang="en-US" sz="1500" dirty="0"/>
              <a:t>RAG-enhanced recommendation systems will reduce the mismatch between user skin concerns and product suggestions compared to traditional approaches.</a:t>
            </a:r>
          </a:p>
          <a:p>
            <a:pPr marL="0" indent="0">
              <a:spcBef>
                <a:spcPts val="300"/>
              </a:spcBef>
              <a:buNone/>
            </a:pPr>
            <a:endParaRPr lang="en-US" sz="1500"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Methodology">
            <a:extLst>
              <a:ext uri="{FF2B5EF4-FFF2-40B4-BE49-F238E27FC236}">
                <a16:creationId xmlns:a16="http://schemas.microsoft.com/office/drawing/2014/main" id="{43A9A527-9A39-096E-818E-A755BC71DF12}"/>
              </a:ext>
            </a:extLst>
          </p:cNvPr>
          <p:cNvSpPr txBox="1">
            <a:spLocks noGrp="1" noChangeArrowheads="1"/>
          </p:cNvSpPr>
          <p:nvPr>
            <p:ph type="title" idx="4294967295"/>
          </p:nvPr>
        </p:nvSpPr>
        <p:spPr/>
        <p:txBody>
          <a:bodyPr/>
          <a:lstStyle/>
          <a:p>
            <a:pPr eaLnBrk="1" hangingPunct="1"/>
            <a:r>
              <a:rPr lang="en-US" altLang="en-US">
                <a:latin typeface="Calibri Light" panose="020F0302020204030204" pitchFamily="34" charset="0"/>
                <a:cs typeface="Calibri Light" panose="020F0302020204030204" pitchFamily="34" charset="0"/>
              </a:rPr>
              <a:t>Methodology</a:t>
            </a:r>
          </a:p>
        </p:txBody>
      </p:sp>
      <p:sp>
        <p:nvSpPr>
          <p:cNvPr id="147" name="Literature Review: Analyze existing research on fine-tuning LLMs for various applications and their performance metrics.…">
            <a:extLst>
              <a:ext uri="{FF2B5EF4-FFF2-40B4-BE49-F238E27FC236}">
                <a16:creationId xmlns:a16="http://schemas.microsoft.com/office/drawing/2014/main" id="{74A05BD0-C08A-5EDC-7177-E3F9A993B8E2}"/>
              </a:ext>
            </a:extLst>
          </p:cNvPr>
          <p:cNvSpPr txBox="1">
            <a:spLocks noGrp="1"/>
          </p:cNvSpPr>
          <p:nvPr>
            <p:ph type="body" idx="4294967295"/>
          </p:nvPr>
        </p:nvSpPr>
        <p:spPr>
          <a:xfrm>
            <a:off x="618995" y="1839751"/>
            <a:ext cx="8075613" cy="3540125"/>
          </a:xfrm>
        </p:spPr>
        <p:txBody>
          <a:bodyPr anchor="ctr">
            <a:normAutofit/>
          </a:bodyPr>
          <a:lstStyle/>
          <a:p>
            <a:pPr defTabSz="904875">
              <a:buFont typeface="Arial"/>
              <a:buChar char="•"/>
            </a:pPr>
            <a:r>
              <a:rPr lang="en-US" sz="1500" b="1"/>
              <a:t>Literature Review:</a:t>
            </a:r>
            <a:r>
              <a:rPr lang="en-US" sz="1500"/>
              <a:t> Review existing research on RAG, LLMs, and traditional recommendation systems.</a:t>
            </a:r>
            <a:endParaRPr lang="en-US"/>
          </a:p>
          <a:p>
            <a:pPr defTabSz="904875">
              <a:buFont typeface="Arial"/>
              <a:buChar char="•"/>
            </a:pPr>
            <a:r>
              <a:rPr lang="en-US" sz="1500" b="1"/>
              <a:t>Data Collection:</a:t>
            </a:r>
            <a:r>
              <a:rPr lang="en-US" sz="1500"/>
              <a:t> Collect skincare product data and user reviews from Sephora and Ulta Beauty.</a:t>
            </a:r>
            <a:endParaRPr lang="en-US"/>
          </a:p>
          <a:p>
            <a:pPr defTabSz="904875">
              <a:buFont typeface="Arial"/>
              <a:buChar char="•"/>
            </a:pPr>
            <a:r>
              <a:rPr lang="en-US" sz="1500" b="1"/>
              <a:t>Pre-Processing:</a:t>
            </a:r>
            <a:r>
              <a:rPr lang="en-US" sz="1500"/>
              <a:t> Clean and standardize text data using normalization, formatting, and other preprocessing techniques.</a:t>
            </a:r>
            <a:endParaRPr lang="en-US"/>
          </a:p>
          <a:p>
            <a:pPr defTabSz="904875">
              <a:buFont typeface="Arial"/>
              <a:buChar char="•"/>
            </a:pPr>
            <a:r>
              <a:rPr lang="en-US" sz="1500" b="1"/>
              <a:t>Data Analysis:</a:t>
            </a:r>
            <a:r>
              <a:rPr lang="en-US" sz="1500"/>
              <a:t> Match products with appropriate skin types and concerns, with validation from expert input if needed.</a:t>
            </a:r>
            <a:endParaRPr lang="en-US"/>
          </a:p>
          <a:p>
            <a:pPr defTabSz="904875">
              <a:buFont typeface="Arial"/>
              <a:buChar char="•"/>
            </a:pPr>
            <a:r>
              <a:rPr lang="en-US" sz="1500" b="1"/>
              <a:t>Evaluation:</a:t>
            </a:r>
            <a:r>
              <a:rPr lang="en-US" sz="1500"/>
              <a:t> Assess the system’s accuracy, relevance, and performance compared to traditional recommendation methods.</a:t>
            </a:r>
            <a:endParaRPr lang="en-US"/>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search Methodology">
            <a:extLst>
              <a:ext uri="{FF2B5EF4-FFF2-40B4-BE49-F238E27FC236}">
                <a16:creationId xmlns:a16="http://schemas.microsoft.com/office/drawing/2014/main" id="{F07C4EF8-164C-785D-56E8-E9904F7657ED}"/>
              </a:ext>
            </a:extLst>
          </p:cNvPr>
          <p:cNvSpPr txBox="1">
            <a:spLocks noGrp="1" noChangeArrowheads="1"/>
          </p:cNvSpPr>
          <p:nvPr>
            <p:ph type="title" idx="4294967295"/>
          </p:nvPr>
        </p:nvSpPr>
        <p:spPr/>
        <p:txBody>
          <a:bodyPr/>
          <a:lstStyle/>
          <a:p>
            <a:pPr eaLnBrk="1" hangingPunct="1"/>
            <a:r>
              <a:rPr lang="en-US" altLang="en-US">
                <a:latin typeface="Calibri Light" panose="020F0302020204030204" pitchFamily="34" charset="0"/>
                <a:cs typeface="Calibri Light" panose="020F0302020204030204" pitchFamily="34" charset="0"/>
              </a:rPr>
              <a:t>Research Methodology</a:t>
            </a:r>
          </a:p>
        </p:txBody>
      </p:sp>
      <p:sp>
        <p:nvSpPr>
          <p:cNvPr id="150" name="Research Methods Approach: Hybrid Strategy…">
            <a:extLst>
              <a:ext uri="{FF2B5EF4-FFF2-40B4-BE49-F238E27FC236}">
                <a16:creationId xmlns:a16="http://schemas.microsoft.com/office/drawing/2014/main" id="{0C8C7318-AA27-EB58-5F67-6F791198E82C}"/>
              </a:ext>
            </a:extLst>
          </p:cNvPr>
          <p:cNvSpPr txBox="1">
            <a:spLocks noGrp="1"/>
          </p:cNvSpPr>
          <p:nvPr>
            <p:ph type="body" idx="4294967295"/>
          </p:nvPr>
        </p:nvSpPr>
        <p:spPr>
          <a:xfrm>
            <a:off x="457200" y="2007415"/>
            <a:ext cx="8075613" cy="4559558"/>
          </a:xfrm>
        </p:spPr>
        <p:txBody>
          <a:bodyPr anchor="ctr">
            <a:normAutofit fontScale="92500" lnSpcReduction="10000"/>
          </a:bodyPr>
          <a:lstStyle/>
          <a:p>
            <a:pPr defTabSz="730250" eaLnBrk="1" hangingPunct="1">
              <a:buFont typeface="Arial"/>
              <a:buChar char="•"/>
            </a:pPr>
            <a:r>
              <a:rPr lang="en-US" sz="1600" b="1" dirty="0"/>
              <a:t>Research Methods Approach: Hybrid Strategy</a:t>
            </a:r>
            <a:endParaRPr lang="en-US" b="1"/>
          </a:p>
          <a:p>
            <a:pPr marL="782320" lvl="1" indent="-325120" defTabSz="730250">
              <a:buFont typeface="Courier New"/>
              <a:buChar char="o"/>
            </a:pPr>
            <a:r>
              <a:rPr lang="en-US" sz="1200" dirty="0"/>
              <a:t>This study employs a hybrid research approach, combining quantitative methods (to measure performance, accuracy, and efficiency of the recommendation system) with qualitative methods (to assess user trust, satisfaction, and explainability).</a:t>
            </a:r>
          </a:p>
          <a:p>
            <a:pPr marL="782320" lvl="1" indent="-325120" defTabSz="730250">
              <a:buFont typeface="Courier New"/>
              <a:buChar char="o"/>
            </a:pPr>
            <a:r>
              <a:rPr lang="en-US" sz="1200"/>
              <a:t>A pragmatic and applied perspective will be adopted, focusing on both technical evaluation (retrieval precision, recommendation accuracy) and user-centered outcomes (perceived relevance, usefulness).</a:t>
            </a:r>
          </a:p>
          <a:p>
            <a:pPr marL="0" indent="0" defTabSz="730250">
              <a:spcBef>
                <a:spcPct val="0"/>
              </a:spcBef>
              <a:buFont typeface="Arial"/>
              <a:buChar char="•"/>
            </a:pPr>
            <a:endParaRPr lang="en-US" altLang="en-US" sz="1200" b="1" dirty="0">
              <a:latin typeface="Calibri" panose="020F0502020204030204" pitchFamily="34" charset="0"/>
              <a:cs typeface="Calibri" panose="020F0502020204030204" pitchFamily="34" charset="0"/>
            </a:endParaRPr>
          </a:p>
          <a:p>
            <a:pPr defTabSz="730250" eaLnBrk="1" hangingPunct="1">
              <a:buFont typeface="Arial"/>
              <a:buChar char="•"/>
            </a:pPr>
            <a:r>
              <a:rPr lang="en-US" altLang="en-US" sz="1400" b="1" dirty="0"/>
              <a:t> </a:t>
            </a:r>
            <a:r>
              <a:rPr lang="en-US" sz="1400" b="1" dirty="0"/>
              <a:t>Use Case Studies and Practical Implementation</a:t>
            </a:r>
            <a:endParaRPr lang="en-US" altLang="en-US" sz="1400" dirty="0"/>
          </a:p>
          <a:p>
            <a:pPr marL="782320" lvl="1" indent="-342900" defTabSz="730250">
              <a:buFont typeface="Courier New"/>
              <a:buChar char="o"/>
            </a:pPr>
            <a:r>
              <a:rPr lang="en-US" sz="1200"/>
              <a:t>A proof-of-concept (POC) recommendation system will be developed using RAG and LLMs, trained on skincare product data and user reviews from Sephora and </a:t>
            </a:r>
            <a:r>
              <a:rPr lang="en-US" sz="1200" err="1"/>
              <a:t>Ulta</a:t>
            </a:r>
            <a:r>
              <a:rPr lang="en-US" sz="1200"/>
              <a:t> Beauty.</a:t>
            </a:r>
            <a:endParaRPr lang="en-US"/>
          </a:p>
          <a:p>
            <a:pPr marL="782320" lvl="1" indent="-342900" defTabSz="730250">
              <a:buFont typeface="Courier New"/>
              <a:buChar char="o"/>
            </a:pPr>
            <a:r>
              <a:rPr lang="en-US" sz="1200"/>
              <a:t>Case studies will demonstrate how the system handles different user profiles (e.g., oily skin, sensitive skin, acne-prone) and adapts to varying needs.</a:t>
            </a:r>
            <a:endParaRPr lang="en-US"/>
          </a:p>
          <a:p>
            <a:pPr marL="0" indent="0" defTabSz="730250">
              <a:spcBef>
                <a:spcPct val="0"/>
              </a:spcBef>
              <a:buFont typeface="Arial"/>
              <a:buChar char="•"/>
            </a:pPr>
            <a:endParaRPr lang="en-US" altLang="en-US" sz="1200" b="1" dirty="0">
              <a:latin typeface="Calibri" panose="020F0502020204030204" pitchFamily="34" charset="0"/>
              <a:cs typeface="Calibri" panose="020F0502020204030204" pitchFamily="34" charset="0"/>
            </a:endParaRPr>
          </a:p>
          <a:p>
            <a:pPr defTabSz="730250" eaLnBrk="1" hangingPunct="1">
              <a:buFont typeface="Arial"/>
              <a:buChar char="•"/>
            </a:pPr>
            <a:r>
              <a:rPr lang="en-US" altLang="en-US" sz="1400" b="1" dirty="0"/>
              <a:t> </a:t>
            </a:r>
            <a:r>
              <a:rPr lang="en-US" sz="1400" b="1" dirty="0"/>
              <a:t>Logical and Theoretical Research Approach</a:t>
            </a:r>
          </a:p>
          <a:p>
            <a:pPr marL="782320" lvl="1" indent="-342900" defTabSz="730250">
              <a:buFont typeface="Courier New"/>
              <a:buChar char="o"/>
            </a:pPr>
            <a:r>
              <a:rPr lang="en-US" sz="1200"/>
              <a:t>A deductive approach will be applied by forming hypotheses (e.g., RAG improves accuracy compared to traditional methods) and testing them through experiments.</a:t>
            </a:r>
            <a:endParaRPr lang="en-US"/>
          </a:p>
          <a:p>
            <a:pPr marL="782320" lvl="1" indent="-342900" defTabSz="730250">
              <a:buFont typeface="Courier New"/>
              <a:buChar char="o"/>
            </a:pPr>
            <a:r>
              <a:rPr lang="en-US" sz="1200" dirty="0"/>
              <a:t>A theory-driven perspective will guide the evaluation, particularly in assessing scalability, efficiency, and personalization potential of RAG-based recommendation systems in the skincare domain.</a:t>
            </a:r>
            <a:endParaRPr lang="en-US" dirty="0"/>
          </a:p>
          <a:p>
            <a:pPr marL="0" indent="0" defTabSz="730250">
              <a:spcBef>
                <a:spcPct val="0"/>
              </a:spcBef>
              <a:buNone/>
            </a:pPr>
            <a:endParaRPr lang="en-US" altLang="en-US" sz="1200" dirty="0">
              <a:latin typeface="Calibri" panose="020F0502020204030204" pitchFamily="34" charset="0"/>
              <a:cs typeface="Calibri" panose="020F0502020204030204" pitchFamily="34" charset="0"/>
            </a:endParaRPr>
          </a:p>
          <a:p>
            <a:pPr marL="457200" indent="-457200" defTabSz="730250" eaLnBrk="1" hangingPunct="1">
              <a:buFont typeface="Arial"/>
              <a:buChar char="•"/>
            </a:pPr>
            <a:r>
              <a:rPr lang="en-US" sz="1400" b="1" dirty="0"/>
              <a:t>Research Strategy – Comprehensive Evaluation Framework</a:t>
            </a:r>
          </a:p>
          <a:p>
            <a:pPr marL="782320" lvl="1" indent="-342900" defTabSz="730250">
              <a:buFont typeface="Courier New"/>
              <a:buChar char="o"/>
            </a:pPr>
            <a:r>
              <a:rPr lang="en-US" sz="1200"/>
              <a:t>By combining these approaches, the research will provide a holistic evaluation of the RAG-based skincare recommendation system. The findings will not only demonstrate the feasibility of integrating RAG and LLMs for consumer-facing applications but also generate insights into performance, scalability, and user trust.</a:t>
            </a:r>
            <a:endParaRPr lang="en-US"/>
          </a:p>
          <a:p>
            <a:pPr marL="0" indent="0" defTabSz="730250">
              <a:spcBef>
                <a:spcPct val="0"/>
              </a:spcBef>
              <a:buFont typeface="Arial"/>
              <a:buChar char="•"/>
            </a:pPr>
            <a:endParaRPr lang="en-US" altLang="en-US" sz="1200" dirty="0">
              <a:latin typeface="Calibri" panose="020F0502020204030204" pitchFamily="34" charset="0"/>
              <a:cs typeface="Calibri" panose="020F0502020204030204" pitchFamily="34" charset="0"/>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Importance of the Thesis">
            <a:extLst>
              <a:ext uri="{FF2B5EF4-FFF2-40B4-BE49-F238E27FC236}">
                <a16:creationId xmlns:a16="http://schemas.microsoft.com/office/drawing/2014/main" id="{7E17C4E5-5897-8DB4-EF19-F4E67DD8F7DF}"/>
              </a:ext>
            </a:extLst>
          </p:cNvPr>
          <p:cNvSpPr txBox="1">
            <a:spLocks noGrp="1" noChangeArrowheads="1"/>
          </p:cNvSpPr>
          <p:nvPr>
            <p:ph type="title" idx="4294967295"/>
          </p:nvPr>
        </p:nvSpPr>
        <p:spPr/>
        <p:txBody>
          <a:bodyPr/>
          <a:lstStyle/>
          <a:p>
            <a:pPr eaLnBrk="1" hangingPunct="1"/>
            <a:r>
              <a:rPr lang="en-US" altLang="en-US">
                <a:latin typeface="Calibri Light" panose="020F0302020204030204" pitchFamily="34" charset="0"/>
                <a:cs typeface="Calibri Light" panose="020F0302020204030204" pitchFamily="34" charset="0"/>
              </a:rPr>
              <a:t>Importance of the Thesis</a:t>
            </a:r>
          </a:p>
        </p:txBody>
      </p:sp>
      <p:sp>
        <p:nvSpPr>
          <p:cNvPr id="153" name="This research will help companies understand how to choose and deploy LLMs for processing complex text data, providing clear guidance on selecting the right model based on cost, performance, and integration ease.…">
            <a:extLst>
              <a:ext uri="{FF2B5EF4-FFF2-40B4-BE49-F238E27FC236}">
                <a16:creationId xmlns:a16="http://schemas.microsoft.com/office/drawing/2014/main" id="{8BB04D04-D27F-4922-B7AF-A6FAE1F7F9E5}"/>
              </a:ext>
            </a:extLst>
          </p:cNvPr>
          <p:cNvSpPr txBox="1">
            <a:spLocks noGrp="1"/>
          </p:cNvSpPr>
          <p:nvPr>
            <p:ph type="body" idx="4294967295"/>
          </p:nvPr>
        </p:nvSpPr>
        <p:spPr>
          <a:xfrm>
            <a:off x="457200" y="2133600"/>
            <a:ext cx="8229600" cy="3992563"/>
          </a:xfrm>
        </p:spPr>
        <p:txBody>
          <a:bodyPr>
            <a:normAutofit/>
          </a:bodyPr>
          <a:lstStyle/>
          <a:p>
            <a:pPr marL="0" indent="0" defTabSz="904875">
              <a:spcBef>
                <a:spcPts val="300"/>
              </a:spcBef>
              <a:buNone/>
            </a:pPr>
            <a:r>
              <a:rPr lang="en-US" sz="1500"/>
              <a:t>This research will help demonstrate how RAG and LLMs can be applied to real-world skincare data, providing guidance on building more accurate and personalized recommendation systems.</a:t>
            </a:r>
            <a:endParaRPr lang="en-US"/>
          </a:p>
          <a:p>
            <a:pPr marL="0" indent="0" defTabSz="904875" eaLnBrk="1" hangingPunct="1">
              <a:buSzTx/>
              <a:buFontTx/>
              <a:buNone/>
            </a:pPr>
            <a:endParaRPr lang="en-US" altLang="en-US" sz="1500">
              <a:latin typeface="Calibri" panose="020F0502020204030204" pitchFamily="34" charset="0"/>
              <a:cs typeface="Calibri" panose="020F0502020204030204" pitchFamily="34" charset="0"/>
            </a:endParaRPr>
          </a:p>
          <a:p>
            <a:pPr marL="0" indent="0" defTabSz="904875">
              <a:spcBef>
                <a:spcPts val="300"/>
              </a:spcBef>
              <a:buNone/>
            </a:pPr>
            <a:r>
              <a:rPr lang="en-US" sz="1500"/>
              <a:t>By analyzing user reviews and product information, the study contributes to both academia and industry by showing how AI can reduce uncertainty in skincare choices.</a:t>
            </a:r>
            <a:endParaRPr lang="en-US"/>
          </a:p>
          <a:p>
            <a:pPr marL="0" indent="0" defTabSz="904875" eaLnBrk="1" hangingPunct="1">
              <a:buSzTx/>
              <a:buFontTx/>
              <a:buNone/>
            </a:pPr>
            <a:endParaRPr lang="en-US" altLang="en-US" sz="1500">
              <a:latin typeface="Calibri" panose="020F0502020204030204" pitchFamily="34" charset="0"/>
              <a:cs typeface="Calibri" panose="020F0502020204030204" pitchFamily="34" charset="0"/>
            </a:endParaRPr>
          </a:p>
          <a:p>
            <a:pPr marL="0" indent="0" defTabSz="904875">
              <a:spcBef>
                <a:spcPts val="300"/>
              </a:spcBef>
              <a:buNone/>
            </a:pPr>
            <a:r>
              <a:rPr lang="en-US" sz="1500"/>
              <a:t>The work further highlights the value of integrating user-generated data with AI-driven retrieval and generation techniques, offering a pathway to more transparent, efficient, and user-centered recommendation systems.</a:t>
            </a:r>
            <a:endParaRPr lang="en-US"/>
          </a:p>
          <a:p>
            <a:pPr marL="0" indent="0" defTabSz="904875" eaLnBrk="1" hangingPunct="1">
              <a:buSzTx/>
              <a:buFontTx/>
              <a:buNone/>
            </a:pPr>
            <a:endParaRPr lang="en-US" altLang="en-US" sz="1500">
              <a:latin typeface="Calibri" panose="020F0502020204030204" pitchFamily="34" charset="0"/>
              <a:cs typeface="Calibri" panose="020F0502020204030204" pitchFamily="34" charset="0"/>
            </a:endParaRPr>
          </a:p>
          <a:p>
            <a:pPr marL="0" indent="0" defTabSz="904875">
              <a:spcBef>
                <a:spcPts val="300"/>
              </a:spcBef>
              <a:buNone/>
            </a:pPr>
            <a:r>
              <a:rPr lang="en-US" sz="1500"/>
              <a:t>Finally, this thesis will serve as a foundation for future research on applying RAG and LLMs in other consumer-focused domains, supporting broader adoption of AI-driven personalization.</a:t>
            </a:r>
            <a:endParaRPr lang="en-US"/>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tructure of the Thesis">
            <a:extLst>
              <a:ext uri="{FF2B5EF4-FFF2-40B4-BE49-F238E27FC236}">
                <a16:creationId xmlns:a16="http://schemas.microsoft.com/office/drawing/2014/main" id="{20EF9E98-AE8B-09AE-D074-AF9C71F4E1CA}"/>
              </a:ext>
            </a:extLst>
          </p:cNvPr>
          <p:cNvSpPr txBox="1">
            <a:spLocks noGrp="1" noChangeArrowheads="1"/>
          </p:cNvSpPr>
          <p:nvPr>
            <p:ph type="title" idx="4294967295"/>
          </p:nvPr>
        </p:nvSpPr>
        <p:spPr/>
        <p:txBody>
          <a:bodyPr/>
          <a:lstStyle/>
          <a:p>
            <a:pPr eaLnBrk="1" hangingPunct="1"/>
            <a:r>
              <a:rPr lang="en-US" altLang="en-US">
                <a:latin typeface="Calibri Light" panose="020F0302020204030204" pitchFamily="34" charset="0"/>
                <a:cs typeface="Calibri Light" panose="020F0302020204030204" pitchFamily="34" charset="0"/>
              </a:rPr>
              <a:t>Structure of the Thesis</a:t>
            </a:r>
          </a:p>
        </p:txBody>
      </p:sp>
      <p:sp>
        <p:nvSpPr>
          <p:cNvPr id="22531" name="Chapter 1: Abstract &amp; Introduction…">
            <a:extLst>
              <a:ext uri="{FF2B5EF4-FFF2-40B4-BE49-F238E27FC236}">
                <a16:creationId xmlns:a16="http://schemas.microsoft.com/office/drawing/2014/main" id="{C836A88E-CB6F-4980-4BBA-91C897C8A3AE}"/>
              </a:ext>
            </a:extLst>
          </p:cNvPr>
          <p:cNvSpPr txBox="1">
            <a:spLocks noGrp="1" noChangeArrowheads="1"/>
          </p:cNvSpPr>
          <p:nvPr>
            <p:ph type="body" sz="half" idx="4294967295"/>
          </p:nvPr>
        </p:nvSpPr>
        <p:spPr>
          <a:xfrm>
            <a:off x="457200" y="2339975"/>
            <a:ext cx="7931150" cy="3046413"/>
          </a:xfrm>
        </p:spPr>
        <p:txBody>
          <a:bodyPr anchor="ctr"/>
          <a:lstStyle/>
          <a:p>
            <a:pPr marL="0" indent="0" eaLnBrk="1" hangingPunct="1">
              <a:spcBef>
                <a:spcPct val="0"/>
              </a:spcBef>
              <a:buSzTx/>
              <a:buFontTx/>
              <a:buNone/>
            </a:pPr>
            <a:r>
              <a:rPr lang="en-US" altLang="en-US" sz="1600">
                <a:latin typeface="Calibri" panose="020F0502020204030204" pitchFamily="34" charset="0"/>
                <a:cs typeface="Calibri" panose="020F0502020204030204" pitchFamily="34" charset="0"/>
              </a:rPr>
              <a:t>Chapter 1: Abstract &amp; Introduction</a:t>
            </a:r>
          </a:p>
          <a:p>
            <a:pPr marL="0" indent="0" eaLnBrk="1" hangingPunct="1">
              <a:spcBef>
                <a:spcPct val="0"/>
              </a:spcBef>
              <a:buSzTx/>
              <a:buFontTx/>
              <a:buNone/>
            </a:pPr>
            <a:endParaRPr lang="en-US" altLang="en-US" sz="1600">
              <a:latin typeface="Calibri" panose="020F0502020204030204" pitchFamily="34" charset="0"/>
              <a:cs typeface="Calibri" panose="020F0502020204030204" pitchFamily="34" charset="0"/>
            </a:endParaRPr>
          </a:p>
          <a:p>
            <a:pPr marL="0" indent="0" eaLnBrk="1" hangingPunct="1">
              <a:spcBef>
                <a:spcPct val="0"/>
              </a:spcBef>
              <a:buSzTx/>
              <a:buFontTx/>
              <a:buNone/>
            </a:pPr>
            <a:r>
              <a:rPr lang="en-US" altLang="en-US" sz="1600">
                <a:latin typeface="Calibri" panose="020F0502020204030204" pitchFamily="34" charset="0"/>
                <a:cs typeface="Calibri" panose="020F0502020204030204" pitchFamily="34" charset="0"/>
              </a:rPr>
              <a:t>Chapter 2: Literature Review</a:t>
            </a:r>
          </a:p>
          <a:p>
            <a:pPr marL="0" indent="0" eaLnBrk="1" hangingPunct="1">
              <a:spcBef>
                <a:spcPct val="0"/>
              </a:spcBef>
              <a:buSzTx/>
              <a:buFontTx/>
              <a:buNone/>
            </a:pPr>
            <a:endParaRPr lang="en-US" altLang="en-US" sz="1600">
              <a:latin typeface="Calibri" panose="020F0502020204030204" pitchFamily="34" charset="0"/>
              <a:cs typeface="Calibri" panose="020F0502020204030204" pitchFamily="34" charset="0"/>
            </a:endParaRPr>
          </a:p>
          <a:p>
            <a:pPr marL="0" indent="0" eaLnBrk="1" hangingPunct="1">
              <a:spcBef>
                <a:spcPct val="0"/>
              </a:spcBef>
              <a:buSzTx/>
              <a:buFontTx/>
              <a:buNone/>
            </a:pPr>
            <a:r>
              <a:rPr lang="en-US" altLang="en-US" sz="1600">
                <a:latin typeface="Calibri" panose="020F0502020204030204" pitchFamily="34" charset="0"/>
                <a:cs typeface="Calibri" panose="020F0502020204030204" pitchFamily="34" charset="0"/>
              </a:rPr>
              <a:t>Chapter 3: Methodology</a:t>
            </a:r>
          </a:p>
          <a:p>
            <a:pPr marL="0" indent="0" eaLnBrk="1" hangingPunct="1">
              <a:spcBef>
                <a:spcPct val="0"/>
              </a:spcBef>
              <a:buSzTx/>
              <a:buFontTx/>
              <a:buNone/>
            </a:pPr>
            <a:endParaRPr lang="en-US" altLang="en-US" sz="1600">
              <a:latin typeface="Calibri" panose="020F0502020204030204" pitchFamily="34" charset="0"/>
              <a:cs typeface="Calibri" panose="020F0502020204030204" pitchFamily="34" charset="0"/>
            </a:endParaRPr>
          </a:p>
          <a:p>
            <a:pPr marL="0" indent="0" eaLnBrk="1" hangingPunct="1">
              <a:spcBef>
                <a:spcPct val="0"/>
              </a:spcBef>
              <a:buSzTx/>
              <a:buFontTx/>
              <a:buNone/>
            </a:pPr>
            <a:r>
              <a:rPr lang="en-US" altLang="en-US" sz="1600">
                <a:latin typeface="Calibri" panose="020F0502020204030204" pitchFamily="34" charset="0"/>
                <a:cs typeface="Calibri" panose="020F0502020204030204" pitchFamily="34" charset="0"/>
              </a:rPr>
              <a:t>Chapter 4: Results</a:t>
            </a:r>
          </a:p>
          <a:p>
            <a:pPr marL="0" indent="0" eaLnBrk="1" hangingPunct="1">
              <a:spcBef>
                <a:spcPct val="0"/>
              </a:spcBef>
              <a:buSzTx/>
              <a:buFontTx/>
              <a:buNone/>
            </a:pPr>
            <a:endParaRPr lang="en-US" altLang="en-US" sz="1600">
              <a:latin typeface="Calibri" panose="020F0502020204030204" pitchFamily="34" charset="0"/>
              <a:cs typeface="Calibri" panose="020F0502020204030204" pitchFamily="34" charset="0"/>
            </a:endParaRPr>
          </a:p>
          <a:p>
            <a:pPr marL="0" indent="0" eaLnBrk="1" hangingPunct="1">
              <a:spcBef>
                <a:spcPct val="0"/>
              </a:spcBef>
              <a:buSzTx/>
              <a:buFontTx/>
              <a:buNone/>
            </a:pPr>
            <a:r>
              <a:rPr lang="en-US" altLang="en-US" sz="1600">
                <a:latin typeface="Calibri" panose="020F0502020204030204" pitchFamily="34" charset="0"/>
                <a:cs typeface="Calibri" panose="020F0502020204030204" pitchFamily="34" charset="0"/>
              </a:rPr>
              <a:t>Chapter 5: Findings and Discussion</a:t>
            </a:r>
          </a:p>
          <a:p>
            <a:pPr marL="0" indent="0" eaLnBrk="1" hangingPunct="1">
              <a:spcBef>
                <a:spcPct val="0"/>
              </a:spcBef>
              <a:buSzTx/>
              <a:buFontTx/>
              <a:buNone/>
            </a:pPr>
            <a:endParaRPr lang="en-US" altLang="en-US" sz="1600">
              <a:latin typeface="Calibri" panose="020F0502020204030204" pitchFamily="34" charset="0"/>
              <a:cs typeface="Calibri" panose="020F0502020204030204" pitchFamily="34" charset="0"/>
            </a:endParaRPr>
          </a:p>
          <a:p>
            <a:pPr marL="0" indent="0" eaLnBrk="1" hangingPunct="1">
              <a:spcBef>
                <a:spcPct val="0"/>
              </a:spcBef>
              <a:buSzTx/>
              <a:buFontTx/>
              <a:buNone/>
            </a:pPr>
            <a:r>
              <a:rPr lang="en-US" altLang="en-US" sz="1600">
                <a:latin typeface="Calibri" panose="020F0502020204030204" pitchFamily="34" charset="0"/>
                <a:cs typeface="Calibri" panose="020F0502020204030204" pitchFamily="34" charset="0"/>
              </a:rPr>
              <a:t>Chapter 6: Conclusion</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clusion">
            <a:extLst>
              <a:ext uri="{FF2B5EF4-FFF2-40B4-BE49-F238E27FC236}">
                <a16:creationId xmlns:a16="http://schemas.microsoft.com/office/drawing/2014/main" id="{7D538734-7561-6852-F8BF-49708198D038}"/>
              </a:ext>
            </a:extLst>
          </p:cNvPr>
          <p:cNvSpPr txBox="1">
            <a:spLocks noGrp="1" noChangeArrowheads="1"/>
          </p:cNvSpPr>
          <p:nvPr>
            <p:ph type="title" idx="4294967295"/>
          </p:nvPr>
        </p:nvSpPr>
        <p:spPr/>
        <p:txBody>
          <a:bodyPr/>
          <a:lstStyle/>
          <a:p>
            <a:pPr eaLnBrk="1" hangingPunct="1"/>
            <a:r>
              <a:rPr lang="en-US" altLang="en-US">
                <a:latin typeface="Calibri Light" panose="020F0302020204030204" pitchFamily="34" charset="0"/>
                <a:cs typeface="Calibri Light" panose="020F0302020204030204" pitchFamily="34" charset="0"/>
              </a:rPr>
              <a:t>Conclusion</a:t>
            </a:r>
          </a:p>
        </p:txBody>
      </p:sp>
      <p:sp>
        <p:nvSpPr>
          <p:cNvPr id="159" name="This research provides a detailed comparison of Mistral, LLama 3, GPT-4, and an SLM for full-text document analysis, considering performance, cost, and practical deployment in different business environments.…">
            <a:extLst>
              <a:ext uri="{FF2B5EF4-FFF2-40B4-BE49-F238E27FC236}">
                <a16:creationId xmlns:a16="http://schemas.microsoft.com/office/drawing/2014/main" id="{27FA6D73-5314-AF5D-7FA8-701CFDEE7F07}"/>
              </a:ext>
            </a:extLst>
          </p:cNvPr>
          <p:cNvSpPr txBox="1">
            <a:spLocks noGrp="1"/>
          </p:cNvSpPr>
          <p:nvPr>
            <p:ph type="body" sz="half" idx="4294967295"/>
          </p:nvPr>
        </p:nvSpPr>
        <p:spPr>
          <a:xfrm>
            <a:off x="457200" y="1710049"/>
            <a:ext cx="8234505" cy="3967312"/>
          </a:xfrm>
        </p:spPr>
        <p:txBody>
          <a:bodyPr anchor="ctr">
            <a:normAutofit/>
          </a:bodyPr>
          <a:lstStyle/>
          <a:p>
            <a:pPr marL="285750" indent="-285750" defTabSz="904875" eaLnBrk="1" hangingPunct="1">
              <a:spcBef>
                <a:spcPct val="0"/>
              </a:spcBef>
              <a:buFont typeface="Arial"/>
              <a:buChar char="•"/>
            </a:pPr>
            <a:r>
              <a:rPr lang="en-US" sz="1500" dirty="0"/>
              <a:t>This research presents the development of an intelligent skincare recommendation system using Retrieval-Augmented Generation (RAG) and Large Language Models (LLMs), highlighting their ability to process large-scale product data and user reviews to generate accurate and personalized suggestions.</a:t>
            </a:r>
          </a:p>
          <a:p>
            <a:pPr marL="285750" indent="-285750" defTabSz="904875">
              <a:spcBef>
                <a:spcPct val="0"/>
              </a:spcBef>
              <a:buFont typeface="Arial"/>
              <a:buChar char="•"/>
            </a:pPr>
            <a:endParaRPr lang="en-US" sz="1500" dirty="0"/>
          </a:p>
          <a:p>
            <a:pPr marL="285750" indent="-285750" defTabSz="904875">
              <a:spcBef>
                <a:spcPct val="0"/>
              </a:spcBef>
              <a:buFont typeface="Arial"/>
              <a:buChar char="•"/>
            </a:pPr>
            <a:r>
              <a:rPr lang="en-US" sz="1500" dirty="0"/>
              <a:t>Instead of relying solely on predefined rules or static recommendation techniques, this system combines external knowledge retrieval with advanced language understanding, enabling it to deliver recommendations that are both more precise and more relevant to individual users.</a:t>
            </a:r>
          </a:p>
          <a:p>
            <a:pPr marL="285750" indent="-285750" defTabSz="904875" eaLnBrk="1" hangingPunct="1">
              <a:spcBef>
                <a:spcPct val="0"/>
              </a:spcBef>
              <a:buSzTx/>
              <a:buFont typeface="Arial"/>
              <a:buChar char="•"/>
            </a:pPr>
            <a:endParaRPr lang="en-US" sz="1500" dirty="0"/>
          </a:p>
          <a:p>
            <a:pPr marL="285750" indent="-285750" defTabSz="904875">
              <a:spcBef>
                <a:spcPct val="0"/>
              </a:spcBef>
              <a:buSzTx/>
              <a:buFont typeface="Arial"/>
              <a:buChar char="•"/>
            </a:pPr>
            <a:r>
              <a:rPr lang="en-US" sz="1500" dirty="0"/>
              <a:t>The findings contribute both academically and practically, demonstrating how advanced AI methods can reduce uncertainty in skincare product selection while also offering a framework adaptable to other consumer-focused domains.</a:t>
            </a:r>
            <a:endParaRPr lang="en-US" altLang="en-US" sz="1500" dirty="0">
              <a:latin typeface="Calibri" panose="020F0502020204030204" pitchFamily="34" charset="0"/>
              <a:cs typeface="Calibri" panose="020F0502020204030204" pitchFamily="34" charset="0"/>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hank you">
            <a:extLst>
              <a:ext uri="{FF2B5EF4-FFF2-40B4-BE49-F238E27FC236}">
                <a16:creationId xmlns:a16="http://schemas.microsoft.com/office/drawing/2014/main" id="{E14C2926-D979-EA21-358E-20ACBF651DFE}"/>
              </a:ext>
            </a:extLst>
          </p:cNvPr>
          <p:cNvSpPr txBox="1">
            <a:spLocks noChangeArrowheads="1"/>
          </p:cNvSpPr>
          <p:nvPr/>
        </p:nvSpPr>
        <p:spPr bwMode="auto">
          <a:xfrm>
            <a:off x="3349625" y="3101975"/>
            <a:ext cx="24447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45719" rIns="45719">
            <a:spAutoFit/>
          </a:bodyPr>
          <a:lstStyle/>
          <a:p>
            <a:pPr algn="ctr" eaLnBrk="1"/>
            <a:r>
              <a:rPr lang="en-US" altLang="en-US" sz="4400">
                <a:latin typeface="Calibri Light" panose="020F0302020204030204" pitchFamily="34" charset="0"/>
                <a:cs typeface="Calibri Light" panose="020F0302020204030204" pitchFamily="34" charset="0"/>
                <a:sym typeface="Calibri Light" panose="020F0302020204030204" pitchFamily="34" charset="0"/>
              </a:rPr>
              <a:t>Thank you</a:t>
            </a:r>
          </a:p>
        </p:txBody>
      </p:sp>
    </p:spTree>
  </p:cSld>
  <p:clrMapOvr>
    <a:masterClrMapping/>
  </p:clrMapOvr>
  <p:transition spd="med"/>
</p:sld>
</file>

<file path=ppt/theme/theme1.xml><?xml version="1.0" encoding="utf-8"?>
<a:theme xmlns:a="http://schemas.openxmlformats.org/drawingml/2006/main" name="Diseño predeterminado">
  <a:themeElements>
    <a:clrScheme name="Diseño predeterminado">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Diseño predeterminado">
      <a:majorFont>
        <a:latin typeface="Helvetica Neue"/>
        <a:ea typeface="Helvetica Neue"/>
        <a:cs typeface="Helvetica Neue"/>
      </a:majorFont>
      <a:minorFont>
        <a:latin typeface="Helvetica"/>
        <a:ea typeface="Helvetica"/>
        <a:cs typeface="Helvetica"/>
      </a:minorFont>
    </a:fontScheme>
    <a:fmtScheme name="Diseño predeterminad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iseño predeterminado">
  <a:themeElements>
    <a:clrScheme name="Diseño predeterminado">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Diseño predeterminado">
      <a:majorFont>
        <a:latin typeface="Helvetica Neue"/>
        <a:ea typeface="Helvetica Neue"/>
        <a:cs typeface="Helvetica Neue"/>
      </a:majorFont>
      <a:minorFont>
        <a:latin typeface="Helvetica"/>
        <a:ea typeface="Helvetica"/>
        <a:cs typeface="Helvetica"/>
      </a:minorFont>
    </a:fontScheme>
    <a:fmtScheme name="Diseño predeterminad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1019</Words>
  <Application>Microsoft Office PowerPoint</Application>
  <PresentationFormat>On-screen Show (4:3)</PresentationFormat>
  <Paragraphs>91</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Diseño predeterminado</vt:lpstr>
      <vt:lpstr>Personalized Skincare Recommendations Using RAG and Large Language Models</vt:lpstr>
      <vt:lpstr>Introduction</vt:lpstr>
      <vt:lpstr>Aims of the Research</vt:lpstr>
      <vt:lpstr>Research Questions</vt:lpstr>
      <vt:lpstr>Hypotheses</vt:lpstr>
      <vt:lpstr>Methodology</vt:lpstr>
      <vt:lpstr>Research Methodology</vt:lpstr>
      <vt:lpstr>Importance of the Thesis</vt:lpstr>
      <vt:lpstr>Structure of the Thesis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LLMs from Textual Documents: Performance, Cost, and Integration Analysis</dc:title>
  <cp:lastModifiedBy>cloudconvert_14</cp:lastModifiedBy>
  <cp:revision>361</cp:revision>
  <dcterms:modified xsi:type="dcterms:W3CDTF">2025-09-10T22:31:56Z</dcterms:modified>
</cp:coreProperties>
</file>